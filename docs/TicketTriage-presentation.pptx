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7"/>
  </p:notesMasterIdLst>
  <p:sldIdLst>
    <p:sldId id="256" r:id="rId2"/>
    <p:sldId id="257" r:id="rId3"/>
    <p:sldId id="258" r:id="rId4"/>
    <p:sldId id="259" r:id="rId5"/>
    <p:sldId id="260" r:id="rId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07" d="100"/>
          <a:sy n="107" d="100"/>
        </p:scale>
        <p:origin x="702" y="4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notesMaster" Target="notesMasters/notesMaster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904577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order from Swiss Life: service desks lose a lot of time with manual triage, searching scattered documentation and rewriting similar answers, and quality depends on the individual analyst. We get 20,000 historical tickets that are deliberately noisy, and 20 new tickets with fields that are partly empty or wrong. For each new ticket we must get seven fields right: work type, affected service, service team, assignee, priority (which must be consistent with urgency and impact), resolution status and a concrete resolution comment in the assignee's voice. The human stays in control. Swiss Life will look at classification accuracy, the draft acceptance rate (how many suggestions are approved unchanged) and the time to resolution.</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training export looks big (20,000 tickets) but is 11 text templates with 20 service names filled in: 173 distinct texts. Work type, service and team can be read off the text, so those are easy. Priority, urgency, impact, resolution status and assignee are random: the text lookup, a logistic regression on every field, even the ordering of tickets do not beat the most-common-value baseline (assignee 3.6 % against 3.3 % chance for 30 people; a shuffled-label control scores the same). Priority does not follow urgency and impact (rank correlation 0.00). Consequence: we do not train on this data. It serves as a retrieval index for similar tickets and as the service to team table.</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Tickets enter through the Upload page or Batch, are saved as New, and a background worker in the Web app claims them and runs the pipeline one ticket at a time. The suggestions are stored in SQLite, so opening a ticket in the UI is instant and never calls the LLM. The analyst approves, edits or rejects; the result file is exported from the stored suggestions. The pipeline has six steps. Blue steps are decided by code: retrieval, routing (team by statistics, assignee by workload), the priority matrix and the validation. Amber steps use the LLM: classification and the resolution draft. The LLM never invents team or assignee names, and priority is never model output. Retries, a timeout and a deterministic fallback mean a ticket always gets a suggestion. The code is layered so that Core knows nothing about the rest; Web and Batch sit on top.</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Design rule: every output field has exactly one owner. Code owns everything it can decide reliably: team from the service (100 % deterministic in the data), priority from the matrix, assignee by workload. The LLM owns only what needs reading the text: work type, service, urgency, impact and the resolution draft. Because the history is noise for priority, urgency, impact, status and assignee, the LLM judges from the ticket text and never copies values from similar tickets. The assignee is spread evenly: the person with the fewest tickets so far, since no rule beats chance. Screenshots of the review page and the ticket list / upload page go into the two placeholders on the right.</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Stack: .NET 10 with a Blazor Server UI, Aspire as the orchestrator, SQLite with EF Core, and the Microsoft Agent Framework on Microsoft.Extensions.AI. The LLM provider is a configuration switch, so we can run on Azure OpenAI, OpenAI, Apertus or a local Ollama without code changes. Aspire starts everything and provides the dashboard with traces and logs, and it keeps the API keys in user secrets, never in code. Quality: about 580 automated tests, warnings are errors, central package management. Documentation is part of the work: requirements, architecture with diagrams, ADRs for the key decisions and a README per feature. We built the project with Claude Code: a CLAUDE.md with the rules, skills for the stack, review and test agents, and hooks that protect secrets and format code.</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9/25/2026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9/25/2026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9/25/2026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9/25/2026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‹Nr.›</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val 1"/>
          <p:cNvSpPr/>
          <p:nvPr/>
        </p:nvSpPr>
        <p:spPr>
          <a:xfrm>
            <a:off x="457200" y="384048"/>
            <a:ext cx="566928" cy="566928"/>
          </a:xfrm>
          <a:prstGeom prst="ellipse">
            <a:avLst/>
          </a:prstGeom>
          <a:solidFill>
            <a:srgbClr val="1B2A49"/>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200" b="1">
                <a:solidFill>
                  <a:srgbClr val="FFFFFF"/>
                </a:solidFill>
                <a:latin typeface="Cambria"/>
              </a:rPr>
              <a:t>1</a:t>
            </a:r>
          </a:p>
        </p:txBody>
      </p:sp>
      <p:sp>
        <p:nvSpPr>
          <p:cNvPr id="3" name="TextBox 2"/>
          <p:cNvSpPr txBox="1"/>
          <p:nvPr/>
        </p:nvSpPr>
        <p:spPr>
          <a:xfrm>
            <a:off x="1234440" y="274320"/>
            <a:ext cx="10515600" cy="548640"/>
          </a:xfrm>
          <a:prstGeom prst="rect">
            <a:avLst/>
          </a:prstGeom>
          <a:noFill/>
        </p:spPr>
        <p:txBody>
          <a:bodyPr wrap="square" lIns="0" tIns="0" rIns="0" bIns="0" anchor="ctr">
            <a:spAutoFit/>
          </a:bodyPr>
          <a:lstStyle/>
          <a:p>
            <a:pPr algn="l"/>
            <a:r>
              <a:rPr sz="3000" b="1">
                <a:solidFill>
                  <a:srgbClr val="1B2A49"/>
                </a:solidFill>
                <a:latin typeface="Cambria"/>
              </a:rPr>
              <a:t>The order: triage tickets like an experienced L2 agent</a:t>
            </a:r>
          </a:p>
        </p:txBody>
      </p:sp>
      <p:sp>
        <p:nvSpPr>
          <p:cNvPr id="4" name="TextBox 3"/>
          <p:cNvSpPr txBox="1"/>
          <p:nvPr/>
        </p:nvSpPr>
        <p:spPr>
          <a:xfrm>
            <a:off x="1234440" y="841248"/>
            <a:ext cx="10515600" cy="365760"/>
          </a:xfrm>
          <a:prstGeom prst="rect">
            <a:avLst/>
          </a:prstGeom>
          <a:noFill/>
        </p:spPr>
        <p:txBody>
          <a:bodyPr wrap="square" lIns="0" tIns="0" rIns="0" bIns="0" anchor="t">
            <a:spAutoFit/>
          </a:bodyPr>
          <a:lstStyle/>
          <a:p>
            <a:pPr algn="l"/>
            <a:r>
              <a:rPr sz="1400" b="0">
                <a:solidFill>
                  <a:srgbClr val="6B7280"/>
                </a:solidFill>
                <a:latin typeface="Calibri"/>
              </a:rPr>
              <a:t>Swiss Life challenge at the Swiss {ai} Weeks: an AI support agent for operational service desks</a:t>
            </a:r>
          </a:p>
        </p:txBody>
      </p:sp>
      <p:sp>
        <p:nvSpPr>
          <p:cNvPr id="5" name="Rounded Rectangle 4"/>
          <p:cNvSpPr/>
          <p:nvPr/>
        </p:nvSpPr>
        <p:spPr>
          <a:xfrm>
            <a:off x="457200" y="1463040"/>
            <a:ext cx="3611880" cy="2331720"/>
          </a:xfrm>
          <a:prstGeom prst="roundRect">
            <a:avLst>
              <a:gd name="adj" fmla="val 5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85800" y="1572768"/>
            <a:ext cx="3200400" cy="365760"/>
          </a:xfrm>
          <a:prstGeom prst="rect">
            <a:avLst/>
          </a:prstGeom>
          <a:noFill/>
        </p:spPr>
        <p:txBody>
          <a:bodyPr wrap="square" lIns="0" tIns="0" rIns="0" bIns="0" anchor="t">
            <a:spAutoFit/>
          </a:bodyPr>
          <a:lstStyle/>
          <a:p>
            <a:pPr algn="l"/>
            <a:r>
              <a:rPr sz="1700" b="1">
                <a:solidFill>
                  <a:srgbClr val="1B2A49"/>
                </a:solidFill>
                <a:latin typeface="Cambria"/>
              </a:rPr>
              <a:t>The problem</a:t>
            </a:r>
          </a:p>
        </p:txBody>
      </p:sp>
      <p:sp>
        <p:nvSpPr>
          <p:cNvPr id="7" name="TextBox 6"/>
          <p:cNvSpPr txBox="1"/>
          <p:nvPr/>
        </p:nvSpPr>
        <p:spPr>
          <a:xfrm>
            <a:off x="685800" y="2011680"/>
            <a:ext cx="3200400" cy="1737360"/>
          </a:xfrm>
          <a:prstGeom prst="rect">
            <a:avLst/>
          </a:prstGeom>
          <a:noFill/>
        </p:spPr>
        <p:txBody>
          <a:bodyPr wrap="square" lIns="0" tIns="0" rIns="0" bIns="0" anchor="t">
            <a:spAutoFit/>
          </a:bodyPr>
          <a:lstStyle/>
          <a:p>
            <a:pPr algn="l">
              <a:spcAft>
                <a:spcPts val="600"/>
              </a:spcAft>
            </a:pPr>
            <a:r>
              <a:rPr sz="1300" b="0">
                <a:solidFill>
                  <a:srgbClr val="1F2937"/>
                </a:solidFill>
                <a:latin typeface="Calibri"/>
              </a:rPr>
              <a:t>Manual triage eats time.</a:t>
            </a:r>
          </a:p>
          <a:p>
            <a:pPr algn="l">
              <a:spcAft>
                <a:spcPts val="600"/>
              </a:spcAft>
            </a:pPr>
            <a:r>
              <a:rPr sz="1300" b="0">
                <a:solidFill>
                  <a:srgbClr val="1F2937"/>
                </a:solidFill>
                <a:latin typeface="Calibri"/>
              </a:rPr>
              <a:t>Answers to similar tickets get rewritten again and again, and the documentation is scattered.</a:t>
            </a:r>
          </a:p>
          <a:p>
            <a:pPr algn="l">
              <a:spcAft>
                <a:spcPts val="600"/>
              </a:spcAft>
            </a:pPr>
            <a:r>
              <a:rPr sz="1300" b="0">
                <a:solidFill>
                  <a:srgbClr val="1F2937"/>
                </a:solidFill>
                <a:latin typeface="Calibri"/>
              </a:rPr>
              <a:t>Quality and speed depend on the single analyst.</a:t>
            </a:r>
          </a:p>
        </p:txBody>
      </p:sp>
      <p:sp>
        <p:nvSpPr>
          <p:cNvPr id="8" name="Rounded Rectangle 7"/>
          <p:cNvSpPr/>
          <p:nvPr/>
        </p:nvSpPr>
        <p:spPr>
          <a:xfrm>
            <a:off x="457200" y="3931920"/>
            <a:ext cx="3611880" cy="2468880"/>
          </a:xfrm>
          <a:prstGeom prst="roundRect">
            <a:avLst>
              <a:gd name="adj" fmla="val 5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85800" y="4041648"/>
            <a:ext cx="3200400" cy="365760"/>
          </a:xfrm>
          <a:prstGeom prst="rect">
            <a:avLst/>
          </a:prstGeom>
          <a:noFill/>
        </p:spPr>
        <p:txBody>
          <a:bodyPr wrap="square" lIns="0" tIns="0" rIns="0" bIns="0" anchor="t">
            <a:spAutoFit/>
          </a:bodyPr>
          <a:lstStyle/>
          <a:p>
            <a:pPr algn="l"/>
            <a:r>
              <a:rPr sz="1700" b="1">
                <a:solidFill>
                  <a:srgbClr val="1B2A49"/>
                </a:solidFill>
                <a:latin typeface="Cambria"/>
              </a:rPr>
              <a:t>What we get</a:t>
            </a:r>
          </a:p>
        </p:txBody>
      </p:sp>
      <p:sp>
        <p:nvSpPr>
          <p:cNvPr id="10" name="TextBox 9"/>
          <p:cNvSpPr txBox="1"/>
          <p:nvPr/>
        </p:nvSpPr>
        <p:spPr>
          <a:xfrm>
            <a:off x="685800" y="4480560"/>
            <a:ext cx="3200400" cy="457200"/>
          </a:xfrm>
          <a:prstGeom prst="rect">
            <a:avLst/>
          </a:prstGeom>
          <a:noFill/>
        </p:spPr>
        <p:txBody>
          <a:bodyPr wrap="square" lIns="0" tIns="0" rIns="0" bIns="0" anchor="t">
            <a:spAutoFit/>
          </a:bodyPr>
          <a:lstStyle/>
          <a:p>
            <a:pPr algn="l"/>
            <a:r>
              <a:rPr sz="2600" b="1">
                <a:solidFill>
                  <a:srgbClr val="E4572E"/>
                </a:solidFill>
                <a:latin typeface="Cambria"/>
              </a:rPr>
              <a:t>20,000</a:t>
            </a:r>
          </a:p>
        </p:txBody>
      </p:sp>
      <p:sp>
        <p:nvSpPr>
          <p:cNvPr id="11" name="TextBox 10"/>
          <p:cNvSpPr txBox="1"/>
          <p:nvPr/>
        </p:nvSpPr>
        <p:spPr>
          <a:xfrm>
            <a:off x="685800" y="4937760"/>
            <a:ext cx="3200400" cy="457200"/>
          </a:xfrm>
          <a:prstGeom prst="rect">
            <a:avLst/>
          </a:prstGeom>
          <a:noFill/>
        </p:spPr>
        <p:txBody>
          <a:bodyPr wrap="square" lIns="0" tIns="0" rIns="0" bIns="0" anchor="t">
            <a:spAutoFit/>
          </a:bodyPr>
          <a:lstStyle/>
          <a:p>
            <a:pPr algn="l"/>
            <a:r>
              <a:rPr sz="1250" b="0">
                <a:solidFill>
                  <a:srgbClr val="1F2937"/>
                </a:solidFill>
                <a:latin typeface="Calibri"/>
              </a:rPr>
              <a:t>historical tickets, deliberately noisy</a:t>
            </a:r>
          </a:p>
        </p:txBody>
      </p:sp>
      <p:sp>
        <p:nvSpPr>
          <p:cNvPr id="12" name="TextBox 11"/>
          <p:cNvSpPr txBox="1"/>
          <p:nvPr/>
        </p:nvSpPr>
        <p:spPr>
          <a:xfrm>
            <a:off x="685800" y="5440680"/>
            <a:ext cx="3200400" cy="457200"/>
          </a:xfrm>
          <a:prstGeom prst="rect">
            <a:avLst/>
          </a:prstGeom>
          <a:noFill/>
        </p:spPr>
        <p:txBody>
          <a:bodyPr wrap="square" lIns="0" tIns="0" rIns="0" bIns="0" anchor="t">
            <a:spAutoFit/>
          </a:bodyPr>
          <a:lstStyle/>
          <a:p>
            <a:pPr algn="l"/>
            <a:r>
              <a:rPr sz="2600" b="1">
                <a:solidFill>
                  <a:srgbClr val="E4572E"/>
                </a:solidFill>
                <a:latin typeface="Cambria"/>
              </a:rPr>
              <a:t>20</a:t>
            </a:r>
          </a:p>
        </p:txBody>
      </p:sp>
      <p:sp>
        <p:nvSpPr>
          <p:cNvPr id="13" name="TextBox 12"/>
          <p:cNvSpPr txBox="1"/>
          <p:nvPr/>
        </p:nvSpPr>
        <p:spPr>
          <a:xfrm>
            <a:off x="685800" y="5897880"/>
            <a:ext cx="3200400" cy="457200"/>
          </a:xfrm>
          <a:prstGeom prst="rect">
            <a:avLst/>
          </a:prstGeom>
          <a:noFill/>
        </p:spPr>
        <p:txBody>
          <a:bodyPr wrap="square" lIns="0" tIns="0" rIns="0" bIns="0" anchor="t">
            <a:spAutoFit/>
          </a:bodyPr>
          <a:lstStyle/>
          <a:p>
            <a:pPr algn="l"/>
            <a:r>
              <a:rPr sz="1250" b="0">
                <a:solidFill>
                  <a:srgbClr val="1F2937"/>
                </a:solidFill>
                <a:latin typeface="Calibri"/>
              </a:rPr>
              <a:t>new tickets, fields partly empty or wrong, scored blind</a:t>
            </a:r>
          </a:p>
        </p:txBody>
      </p:sp>
      <p:sp>
        <p:nvSpPr>
          <p:cNvPr id="14" name="TextBox 13"/>
          <p:cNvSpPr txBox="1"/>
          <p:nvPr/>
        </p:nvSpPr>
        <p:spPr>
          <a:xfrm>
            <a:off x="4343400" y="1371600"/>
            <a:ext cx="7315200" cy="274320"/>
          </a:xfrm>
          <a:prstGeom prst="rect">
            <a:avLst/>
          </a:prstGeom>
          <a:noFill/>
        </p:spPr>
        <p:txBody>
          <a:bodyPr wrap="square" lIns="0" tIns="0" rIns="0" bIns="0" anchor="t">
            <a:spAutoFit/>
          </a:bodyPr>
          <a:lstStyle/>
          <a:p>
            <a:pPr algn="l"/>
            <a:r>
              <a:rPr sz="1100" b="1">
                <a:solidFill>
                  <a:srgbClr val="6B7280"/>
                </a:solidFill>
                <a:latin typeface="Calibri"/>
              </a:rPr>
              <a:t>SEVEN FIELDS TO GET RIGHT, PER TICKET</a:t>
            </a:r>
          </a:p>
        </p:txBody>
      </p:sp>
      <p:sp>
        <p:nvSpPr>
          <p:cNvPr id="15" name="Rounded Rectangle 14"/>
          <p:cNvSpPr/>
          <p:nvPr/>
        </p:nvSpPr>
        <p:spPr>
          <a:xfrm>
            <a:off x="4343400" y="1691640"/>
            <a:ext cx="3630168" cy="868680"/>
          </a:xfrm>
          <a:prstGeom prst="roundRect">
            <a:avLst>
              <a:gd name="adj" fmla="val 5000"/>
            </a:avLst>
          </a:prstGeom>
          <a:solidFill>
            <a:srgbClr val="F3F5F9"/>
          </a:solidFill>
          <a:ln w="12700">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4480560" y="1929384"/>
            <a:ext cx="384048" cy="384048"/>
          </a:xfrm>
          <a:prstGeom prst="ellipse">
            <a:avLst/>
          </a:prstGeom>
          <a:solidFill>
            <a:srgbClr val="1B2A49"/>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FFFFFF"/>
                </a:solidFill>
                <a:latin typeface="Calibri"/>
              </a:rPr>
              <a:t>1</a:t>
            </a:r>
          </a:p>
        </p:txBody>
      </p:sp>
      <p:sp>
        <p:nvSpPr>
          <p:cNvPr id="17" name="TextBox 16"/>
          <p:cNvSpPr txBox="1"/>
          <p:nvPr/>
        </p:nvSpPr>
        <p:spPr>
          <a:xfrm>
            <a:off x="5001768" y="1783080"/>
            <a:ext cx="2852928" cy="292608"/>
          </a:xfrm>
          <a:prstGeom prst="rect">
            <a:avLst/>
          </a:prstGeom>
          <a:noFill/>
        </p:spPr>
        <p:txBody>
          <a:bodyPr wrap="square" lIns="0" tIns="0" rIns="0" bIns="0" anchor="t">
            <a:spAutoFit/>
          </a:bodyPr>
          <a:lstStyle/>
          <a:p>
            <a:pPr algn="l"/>
            <a:r>
              <a:rPr sz="1400" b="1">
                <a:solidFill>
                  <a:srgbClr val="1B2A49"/>
                </a:solidFill>
                <a:latin typeface="Cambria"/>
              </a:rPr>
              <a:t>Work type</a:t>
            </a:r>
          </a:p>
        </p:txBody>
      </p:sp>
      <p:sp>
        <p:nvSpPr>
          <p:cNvPr id="18" name="TextBox 17"/>
          <p:cNvSpPr txBox="1"/>
          <p:nvPr/>
        </p:nvSpPr>
        <p:spPr>
          <a:xfrm>
            <a:off x="5001768" y="2103120"/>
            <a:ext cx="2852928" cy="411480"/>
          </a:xfrm>
          <a:prstGeom prst="rect">
            <a:avLst/>
          </a:prstGeom>
          <a:noFill/>
        </p:spPr>
        <p:txBody>
          <a:bodyPr wrap="square" lIns="0" tIns="0" rIns="0" bIns="0" anchor="t">
            <a:spAutoFit/>
          </a:bodyPr>
          <a:lstStyle/>
          <a:p>
            <a:pPr algn="l"/>
            <a:r>
              <a:rPr sz="1150" b="0">
                <a:solidFill>
                  <a:srgbClr val="1F2937"/>
                </a:solidFill>
                <a:latin typeface="Calibri"/>
              </a:rPr>
              <a:t>Incident or Service Request, despite misleading titles</a:t>
            </a:r>
          </a:p>
        </p:txBody>
      </p:sp>
      <p:sp>
        <p:nvSpPr>
          <p:cNvPr id="19" name="Rounded Rectangle 18"/>
          <p:cNvSpPr/>
          <p:nvPr/>
        </p:nvSpPr>
        <p:spPr>
          <a:xfrm>
            <a:off x="8101583" y="1691640"/>
            <a:ext cx="3630168" cy="868680"/>
          </a:xfrm>
          <a:prstGeom prst="roundRect">
            <a:avLst>
              <a:gd name="adj" fmla="val 5000"/>
            </a:avLst>
          </a:prstGeom>
          <a:solidFill>
            <a:srgbClr val="F3F5F9"/>
          </a:solidFill>
          <a:ln w="12700">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8238744" y="1929384"/>
            <a:ext cx="384048" cy="384048"/>
          </a:xfrm>
          <a:prstGeom prst="ellipse">
            <a:avLst/>
          </a:prstGeom>
          <a:solidFill>
            <a:srgbClr val="1B2A49"/>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FFFFFF"/>
                </a:solidFill>
                <a:latin typeface="Calibri"/>
              </a:rPr>
              <a:t>2</a:t>
            </a:r>
          </a:p>
        </p:txBody>
      </p:sp>
      <p:sp>
        <p:nvSpPr>
          <p:cNvPr id="21" name="TextBox 20"/>
          <p:cNvSpPr txBox="1"/>
          <p:nvPr/>
        </p:nvSpPr>
        <p:spPr>
          <a:xfrm>
            <a:off x="8759952" y="1783080"/>
            <a:ext cx="2852928" cy="292608"/>
          </a:xfrm>
          <a:prstGeom prst="rect">
            <a:avLst/>
          </a:prstGeom>
          <a:noFill/>
        </p:spPr>
        <p:txBody>
          <a:bodyPr wrap="square" lIns="0" tIns="0" rIns="0" bIns="0" anchor="t">
            <a:spAutoFit/>
          </a:bodyPr>
          <a:lstStyle/>
          <a:p>
            <a:pPr algn="l"/>
            <a:r>
              <a:rPr sz="1400" b="1">
                <a:solidFill>
                  <a:srgbClr val="1B2A49"/>
                </a:solidFill>
                <a:latin typeface="Cambria"/>
              </a:rPr>
              <a:t>Affected service</a:t>
            </a:r>
          </a:p>
        </p:txBody>
      </p:sp>
      <p:sp>
        <p:nvSpPr>
          <p:cNvPr id="22" name="TextBox 21"/>
          <p:cNvSpPr txBox="1"/>
          <p:nvPr/>
        </p:nvSpPr>
        <p:spPr>
          <a:xfrm>
            <a:off x="8759952" y="2103120"/>
            <a:ext cx="2852928" cy="411480"/>
          </a:xfrm>
          <a:prstGeom prst="rect">
            <a:avLst/>
          </a:prstGeom>
          <a:noFill/>
        </p:spPr>
        <p:txBody>
          <a:bodyPr wrap="square" lIns="0" tIns="0" rIns="0" bIns="0" anchor="t">
            <a:spAutoFit/>
          </a:bodyPr>
          <a:lstStyle/>
          <a:p>
            <a:pPr algn="l"/>
            <a:r>
              <a:rPr sz="1150" b="0">
                <a:solidFill>
                  <a:srgbClr val="1F2937"/>
                </a:solidFill>
                <a:latin typeface="Calibri"/>
              </a:rPr>
              <a:t>the real one, not the supplied value</a:t>
            </a:r>
          </a:p>
        </p:txBody>
      </p:sp>
      <p:sp>
        <p:nvSpPr>
          <p:cNvPr id="23" name="Rounded Rectangle 22"/>
          <p:cNvSpPr/>
          <p:nvPr/>
        </p:nvSpPr>
        <p:spPr>
          <a:xfrm>
            <a:off x="4343400" y="2688336"/>
            <a:ext cx="3630168" cy="868680"/>
          </a:xfrm>
          <a:prstGeom prst="roundRect">
            <a:avLst>
              <a:gd name="adj" fmla="val 5000"/>
            </a:avLst>
          </a:prstGeom>
          <a:solidFill>
            <a:srgbClr val="F3F5F9"/>
          </a:solidFill>
          <a:ln w="12700">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Oval 23"/>
          <p:cNvSpPr/>
          <p:nvPr/>
        </p:nvSpPr>
        <p:spPr>
          <a:xfrm>
            <a:off x="4480560" y="2926080"/>
            <a:ext cx="384048" cy="384048"/>
          </a:xfrm>
          <a:prstGeom prst="ellipse">
            <a:avLst/>
          </a:prstGeom>
          <a:solidFill>
            <a:srgbClr val="1B2A49"/>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FFFFFF"/>
                </a:solidFill>
                <a:latin typeface="Calibri"/>
              </a:rPr>
              <a:t>3</a:t>
            </a:r>
          </a:p>
        </p:txBody>
      </p:sp>
      <p:sp>
        <p:nvSpPr>
          <p:cNvPr id="25" name="TextBox 24"/>
          <p:cNvSpPr txBox="1"/>
          <p:nvPr/>
        </p:nvSpPr>
        <p:spPr>
          <a:xfrm>
            <a:off x="5001768" y="2779776"/>
            <a:ext cx="2852928" cy="292608"/>
          </a:xfrm>
          <a:prstGeom prst="rect">
            <a:avLst/>
          </a:prstGeom>
          <a:noFill/>
        </p:spPr>
        <p:txBody>
          <a:bodyPr wrap="square" lIns="0" tIns="0" rIns="0" bIns="0" anchor="t">
            <a:spAutoFit/>
          </a:bodyPr>
          <a:lstStyle/>
          <a:p>
            <a:pPr algn="l"/>
            <a:r>
              <a:rPr sz="1400" b="1">
                <a:solidFill>
                  <a:srgbClr val="1B2A49"/>
                </a:solidFill>
                <a:latin typeface="Cambria"/>
              </a:rPr>
              <a:t>Service team(s)</a:t>
            </a:r>
          </a:p>
        </p:txBody>
      </p:sp>
      <p:sp>
        <p:nvSpPr>
          <p:cNvPr id="26" name="TextBox 25"/>
          <p:cNvSpPr txBox="1"/>
          <p:nvPr/>
        </p:nvSpPr>
        <p:spPr>
          <a:xfrm>
            <a:off x="5001768" y="3099816"/>
            <a:ext cx="2852928" cy="411480"/>
          </a:xfrm>
          <a:prstGeom prst="rect">
            <a:avLst/>
          </a:prstGeom>
          <a:noFill/>
        </p:spPr>
        <p:txBody>
          <a:bodyPr wrap="square" lIns="0" tIns="0" rIns="0" bIns="0" anchor="t">
            <a:spAutoFit/>
          </a:bodyPr>
          <a:lstStyle/>
          <a:p>
            <a:pPr algn="l"/>
            <a:r>
              <a:rPr sz="1150" b="0">
                <a:solidFill>
                  <a:srgbClr val="1F2937"/>
                </a:solidFill>
                <a:latin typeface="Calibri"/>
              </a:rPr>
              <a:t>the team that owns the service</a:t>
            </a:r>
          </a:p>
        </p:txBody>
      </p:sp>
      <p:sp>
        <p:nvSpPr>
          <p:cNvPr id="27" name="Rounded Rectangle 26"/>
          <p:cNvSpPr/>
          <p:nvPr/>
        </p:nvSpPr>
        <p:spPr>
          <a:xfrm>
            <a:off x="8101583" y="2688336"/>
            <a:ext cx="3630168" cy="868680"/>
          </a:xfrm>
          <a:prstGeom prst="roundRect">
            <a:avLst>
              <a:gd name="adj" fmla="val 5000"/>
            </a:avLst>
          </a:prstGeom>
          <a:solidFill>
            <a:srgbClr val="F3F5F9"/>
          </a:solidFill>
          <a:ln w="12700">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Oval 27"/>
          <p:cNvSpPr/>
          <p:nvPr/>
        </p:nvSpPr>
        <p:spPr>
          <a:xfrm>
            <a:off x="8238744" y="2926080"/>
            <a:ext cx="384048" cy="384048"/>
          </a:xfrm>
          <a:prstGeom prst="ellipse">
            <a:avLst/>
          </a:prstGeom>
          <a:solidFill>
            <a:srgbClr val="1B2A49"/>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FFFFFF"/>
                </a:solidFill>
                <a:latin typeface="Calibri"/>
              </a:rPr>
              <a:t>4</a:t>
            </a:r>
          </a:p>
        </p:txBody>
      </p:sp>
      <p:sp>
        <p:nvSpPr>
          <p:cNvPr id="29" name="TextBox 28"/>
          <p:cNvSpPr txBox="1"/>
          <p:nvPr/>
        </p:nvSpPr>
        <p:spPr>
          <a:xfrm>
            <a:off x="8759952" y="2779776"/>
            <a:ext cx="2852928" cy="292608"/>
          </a:xfrm>
          <a:prstGeom prst="rect">
            <a:avLst/>
          </a:prstGeom>
          <a:noFill/>
        </p:spPr>
        <p:txBody>
          <a:bodyPr wrap="square" lIns="0" tIns="0" rIns="0" bIns="0" anchor="t">
            <a:spAutoFit/>
          </a:bodyPr>
          <a:lstStyle/>
          <a:p>
            <a:pPr algn="l"/>
            <a:r>
              <a:rPr sz="1400" b="1">
                <a:solidFill>
                  <a:srgbClr val="1B2A49"/>
                </a:solidFill>
                <a:latin typeface="Cambria"/>
              </a:rPr>
              <a:t>Assignee</a:t>
            </a:r>
          </a:p>
        </p:txBody>
      </p:sp>
      <p:sp>
        <p:nvSpPr>
          <p:cNvPr id="30" name="TextBox 29"/>
          <p:cNvSpPr txBox="1"/>
          <p:nvPr/>
        </p:nvSpPr>
        <p:spPr>
          <a:xfrm>
            <a:off x="8759952" y="3099816"/>
            <a:ext cx="2852928" cy="411480"/>
          </a:xfrm>
          <a:prstGeom prst="rect">
            <a:avLst/>
          </a:prstGeom>
          <a:noFill/>
        </p:spPr>
        <p:txBody>
          <a:bodyPr wrap="square" lIns="0" tIns="0" rIns="0" bIns="0" anchor="t">
            <a:spAutoFit/>
          </a:bodyPr>
          <a:lstStyle/>
          <a:p>
            <a:pPr algn="l"/>
            <a:r>
              <a:rPr sz="1150" b="0">
                <a:solidFill>
                  <a:srgbClr val="1F2937"/>
                </a:solidFill>
                <a:latin typeface="Calibri"/>
              </a:rPr>
              <a:t>the actual routing person</a:t>
            </a:r>
          </a:p>
        </p:txBody>
      </p:sp>
      <p:sp>
        <p:nvSpPr>
          <p:cNvPr id="31" name="Rounded Rectangle 30"/>
          <p:cNvSpPr/>
          <p:nvPr/>
        </p:nvSpPr>
        <p:spPr>
          <a:xfrm>
            <a:off x="4343400" y="3685031"/>
            <a:ext cx="3630168" cy="868680"/>
          </a:xfrm>
          <a:prstGeom prst="roundRect">
            <a:avLst>
              <a:gd name="adj" fmla="val 5000"/>
            </a:avLst>
          </a:prstGeom>
          <a:solidFill>
            <a:srgbClr val="F3F5F9"/>
          </a:solidFill>
          <a:ln w="12700">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Oval 31"/>
          <p:cNvSpPr/>
          <p:nvPr/>
        </p:nvSpPr>
        <p:spPr>
          <a:xfrm>
            <a:off x="4480560" y="3922775"/>
            <a:ext cx="384048" cy="384048"/>
          </a:xfrm>
          <a:prstGeom prst="ellipse">
            <a:avLst/>
          </a:prstGeom>
          <a:solidFill>
            <a:srgbClr val="1B2A49"/>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FFFFFF"/>
                </a:solidFill>
                <a:latin typeface="Calibri"/>
              </a:rPr>
              <a:t>5</a:t>
            </a:r>
          </a:p>
        </p:txBody>
      </p:sp>
      <p:sp>
        <p:nvSpPr>
          <p:cNvPr id="33" name="TextBox 32"/>
          <p:cNvSpPr txBox="1"/>
          <p:nvPr/>
        </p:nvSpPr>
        <p:spPr>
          <a:xfrm>
            <a:off x="5001768" y="3776471"/>
            <a:ext cx="2852928" cy="292608"/>
          </a:xfrm>
          <a:prstGeom prst="rect">
            <a:avLst/>
          </a:prstGeom>
          <a:noFill/>
        </p:spPr>
        <p:txBody>
          <a:bodyPr wrap="square" lIns="0" tIns="0" rIns="0" bIns="0" anchor="t">
            <a:spAutoFit/>
          </a:bodyPr>
          <a:lstStyle/>
          <a:p>
            <a:pPr algn="l"/>
            <a:r>
              <a:rPr sz="1400" b="1">
                <a:solidFill>
                  <a:srgbClr val="1B2A49"/>
                </a:solidFill>
                <a:latin typeface="Cambria"/>
              </a:rPr>
              <a:t>Priority</a:t>
            </a:r>
          </a:p>
        </p:txBody>
      </p:sp>
      <p:sp>
        <p:nvSpPr>
          <p:cNvPr id="34" name="TextBox 33"/>
          <p:cNvSpPr txBox="1"/>
          <p:nvPr/>
        </p:nvSpPr>
        <p:spPr>
          <a:xfrm>
            <a:off x="5001768" y="4096511"/>
            <a:ext cx="2852928" cy="411480"/>
          </a:xfrm>
          <a:prstGeom prst="rect">
            <a:avLst/>
          </a:prstGeom>
          <a:noFill/>
        </p:spPr>
        <p:txBody>
          <a:bodyPr wrap="square" lIns="0" tIns="0" rIns="0" bIns="0" anchor="t">
            <a:spAutoFit/>
          </a:bodyPr>
          <a:lstStyle/>
          <a:p>
            <a:pPr algn="l"/>
            <a:r>
              <a:rPr sz="1150" b="0">
                <a:solidFill>
                  <a:srgbClr val="1F2937"/>
                </a:solidFill>
                <a:latin typeface="Calibri"/>
              </a:rPr>
              <a:t>must match urgency × impact (matrix)</a:t>
            </a:r>
          </a:p>
        </p:txBody>
      </p:sp>
      <p:sp>
        <p:nvSpPr>
          <p:cNvPr id="35" name="Rounded Rectangle 34"/>
          <p:cNvSpPr/>
          <p:nvPr/>
        </p:nvSpPr>
        <p:spPr>
          <a:xfrm>
            <a:off x="8101583" y="3685031"/>
            <a:ext cx="3630168" cy="868680"/>
          </a:xfrm>
          <a:prstGeom prst="roundRect">
            <a:avLst>
              <a:gd name="adj" fmla="val 5000"/>
            </a:avLst>
          </a:prstGeom>
          <a:solidFill>
            <a:srgbClr val="F3F5F9"/>
          </a:solidFill>
          <a:ln w="12700">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Oval 35"/>
          <p:cNvSpPr/>
          <p:nvPr/>
        </p:nvSpPr>
        <p:spPr>
          <a:xfrm>
            <a:off x="8238744" y="3922775"/>
            <a:ext cx="384048" cy="384048"/>
          </a:xfrm>
          <a:prstGeom prst="ellipse">
            <a:avLst/>
          </a:prstGeom>
          <a:solidFill>
            <a:srgbClr val="1B2A49"/>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FFFFFF"/>
                </a:solidFill>
                <a:latin typeface="Calibri"/>
              </a:rPr>
              <a:t>6</a:t>
            </a:r>
          </a:p>
        </p:txBody>
      </p:sp>
      <p:sp>
        <p:nvSpPr>
          <p:cNvPr id="37" name="TextBox 36"/>
          <p:cNvSpPr txBox="1"/>
          <p:nvPr/>
        </p:nvSpPr>
        <p:spPr>
          <a:xfrm>
            <a:off x="8759952" y="3776471"/>
            <a:ext cx="2852928" cy="292608"/>
          </a:xfrm>
          <a:prstGeom prst="rect">
            <a:avLst/>
          </a:prstGeom>
          <a:noFill/>
        </p:spPr>
        <p:txBody>
          <a:bodyPr wrap="square" lIns="0" tIns="0" rIns="0" bIns="0" anchor="t">
            <a:spAutoFit/>
          </a:bodyPr>
          <a:lstStyle/>
          <a:p>
            <a:pPr algn="l"/>
            <a:r>
              <a:rPr sz="1400" b="1">
                <a:solidFill>
                  <a:srgbClr val="1B2A49"/>
                </a:solidFill>
                <a:latin typeface="Cambria"/>
              </a:rPr>
              <a:t>Resolution status</a:t>
            </a:r>
          </a:p>
        </p:txBody>
      </p:sp>
      <p:sp>
        <p:nvSpPr>
          <p:cNvPr id="38" name="TextBox 37"/>
          <p:cNvSpPr txBox="1"/>
          <p:nvPr/>
        </p:nvSpPr>
        <p:spPr>
          <a:xfrm>
            <a:off x="8759952" y="4096511"/>
            <a:ext cx="2852928" cy="411480"/>
          </a:xfrm>
          <a:prstGeom prst="rect">
            <a:avLst/>
          </a:prstGeom>
          <a:noFill/>
        </p:spPr>
        <p:txBody>
          <a:bodyPr wrap="square" lIns="0" tIns="0" rIns="0" bIns="0" anchor="t">
            <a:spAutoFit/>
          </a:bodyPr>
          <a:lstStyle/>
          <a:p>
            <a:pPr algn="l"/>
            <a:r>
              <a:rPr sz="1150" b="0">
                <a:solidFill>
                  <a:srgbClr val="1F2937"/>
                </a:solidFill>
                <a:latin typeface="Calibri"/>
              </a:rPr>
              <a:t>done, cancelled, clarification, cannot reproduce</a:t>
            </a:r>
          </a:p>
        </p:txBody>
      </p:sp>
      <p:sp>
        <p:nvSpPr>
          <p:cNvPr id="39" name="Rounded Rectangle 38"/>
          <p:cNvSpPr/>
          <p:nvPr/>
        </p:nvSpPr>
        <p:spPr>
          <a:xfrm>
            <a:off x="4343400" y="4681727"/>
            <a:ext cx="3630168" cy="868680"/>
          </a:xfrm>
          <a:prstGeom prst="roundRect">
            <a:avLst>
              <a:gd name="adj" fmla="val 5000"/>
            </a:avLst>
          </a:prstGeom>
          <a:solidFill>
            <a:srgbClr val="F3F5F9"/>
          </a:solidFill>
          <a:ln w="12700">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Oval 39"/>
          <p:cNvSpPr/>
          <p:nvPr/>
        </p:nvSpPr>
        <p:spPr>
          <a:xfrm>
            <a:off x="4480560" y="4919471"/>
            <a:ext cx="384048" cy="384048"/>
          </a:xfrm>
          <a:prstGeom prst="ellipse">
            <a:avLst/>
          </a:prstGeom>
          <a:solidFill>
            <a:srgbClr val="1B2A49"/>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FFFFFF"/>
                </a:solidFill>
                <a:latin typeface="Calibri"/>
              </a:rPr>
              <a:t>7</a:t>
            </a:r>
          </a:p>
        </p:txBody>
      </p:sp>
      <p:sp>
        <p:nvSpPr>
          <p:cNvPr id="41" name="TextBox 40"/>
          <p:cNvSpPr txBox="1"/>
          <p:nvPr/>
        </p:nvSpPr>
        <p:spPr>
          <a:xfrm>
            <a:off x="5001768" y="4773167"/>
            <a:ext cx="2852928" cy="292608"/>
          </a:xfrm>
          <a:prstGeom prst="rect">
            <a:avLst/>
          </a:prstGeom>
          <a:noFill/>
        </p:spPr>
        <p:txBody>
          <a:bodyPr wrap="square" lIns="0" tIns="0" rIns="0" bIns="0" anchor="t">
            <a:spAutoFit/>
          </a:bodyPr>
          <a:lstStyle/>
          <a:p>
            <a:pPr algn="l"/>
            <a:r>
              <a:rPr sz="1400" b="1">
                <a:solidFill>
                  <a:srgbClr val="1B2A49"/>
                </a:solidFill>
                <a:latin typeface="Cambria"/>
              </a:rPr>
              <a:t>Resolution comment</a:t>
            </a:r>
          </a:p>
        </p:txBody>
      </p:sp>
      <p:sp>
        <p:nvSpPr>
          <p:cNvPr id="42" name="TextBox 41"/>
          <p:cNvSpPr txBox="1"/>
          <p:nvPr/>
        </p:nvSpPr>
        <p:spPr>
          <a:xfrm>
            <a:off x="5001768" y="5093207"/>
            <a:ext cx="2852928" cy="411480"/>
          </a:xfrm>
          <a:prstGeom prst="rect">
            <a:avLst/>
          </a:prstGeom>
          <a:noFill/>
        </p:spPr>
        <p:txBody>
          <a:bodyPr wrap="square" lIns="0" tIns="0" rIns="0" bIns="0" anchor="t">
            <a:spAutoFit/>
          </a:bodyPr>
          <a:lstStyle/>
          <a:p>
            <a:pPr algn="l"/>
            <a:r>
              <a:rPr sz="1150" b="0">
                <a:solidFill>
                  <a:srgbClr val="1F2937"/>
                </a:solidFill>
                <a:latin typeface="Calibri"/>
              </a:rPr>
              <a:t>concrete, plausible, in the assignee's voice</a:t>
            </a:r>
          </a:p>
        </p:txBody>
      </p:sp>
      <p:sp>
        <p:nvSpPr>
          <p:cNvPr id="43" name="Rounded Rectangle 42"/>
          <p:cNvSpPr/>
          <p:nvPr/>
        </p:nvSpPr>
        <p:spPr>
          <a:xfrm>
            <a:off x="8101584" y="4681727"/>
            <a:ext cx="3630168" cy="868680"/>
          </a:xfrm>
          <a:prstGeom prst="roundRect">
            <a:avLst>
              <a:gd name="adj" fmla="val 5000"/>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8284464" y="4681727"/>
            <a:ext cx="3264408" cy="868680"/>
          </a:xfrm>
          <a:prstGeom prst="rect">
            <a:avLst/>
          </a:prstGeom>
          <a:noFill/>
        </p:spPr>
        <p:txBody>
          <a:bodyPr wrap="square" lIns="0" tIns="0" rIns="0" bIns="0" anchor="ctr">
            <a:spAutoFit/>
          </a:bodyPr>
          <a:lstStyle/>
          <a:p>
            <a:pPr algn="l">
              <a:spcAft>
                <a:spcPts val="200"/>
              </a:spcAft>
            </a:pPr>
            <a:r>
              <a:rPr sz="1450" b="1">
                <a:solidFill>
                  <a:srgbClr val="FFFFFF"/>
                </a:solidFill>
                <a:latin typeface="Cambria"/>
              </a:rPr>
              <a:t>Human stays in control</a:t>
            </a:r>
          </a:p>
          <a:p>
            <a:pPr algn="l">
              <a:spcAft>
                <a:spcPts val="200"/>
              </a:spcAft>
            </a:pPr>
            <a:r>
              <a:rPr sz="1150" b="0">
                <a:solidFill>
                  <a:srgbClr val="FFFFFF"/>
                </a:solidFill>
                <a:latin typeface="Calibri"/>
              </a:rPr>
              <a:t>every suggestion is reviewed before it counts</a:t>
            </a:r>
          </a:p>
        </p:txBody>
      </p:sp>
      <p:sp>
        <p:nvSpPr>
          <p:cNvPr id="45" name="Rounded Rectangle 44"/>
          <p:cNvSpPr/>
          <p:nvPr/>
        </p:nvSpPr>
        <p:spPr>
          <a:xfrm>
            <a:off x="4343400" y="5806440"/>
            <a:ext cx="7388352" cy="594360"/>
          </a:xfrm>
          <a:prstGeom prst="roundRect">
            <a:avLst>
              <a:gd name="adj" fmla="val 5000"/>
            </a:avLst>
          </a:prstGeom>
          <a:solidFill>
            <a:srgbClr val="1B2A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4572000" y="5806440"/>
            <a:ext cx="6949440" cy="594360"/>
          </a:xfrm>
          <a:prstGeom prst="rect">
            <a:avLst/>
          </a:prstGeom>
          <a:noFill/>
        </p:spPr>
        <p:txBody>
          <a:bodyPr wrap="square" lIns="0" tIns="0" rIns="0" bIns="0" anchor="ctr">
            <a:spAutoFit/>
          </a:bodyPr>
          <a:lstStyle/>
          <a:p>
            <a:pPr algn="l"/>
            <a:r>
              <a:rPr sz="1300" b="1">
                <a:solidFill>
                  <a:srgbClr val="FFFFFF"/>
                </a:solidFill>
                <a:latin typeface="Calibri"/>
              </a:rPr>
              <a:t>Demo metrics   </a:t>
            </a:r>
            <a:r>
              <a:rPr sz="1300" b="0">
                <a:solidFill>
                  <a:srgbClr val="FFFFFF"/>
                </a:solidFill>
                <a:latin typeface="Calibri"/>
              </a:rPr>
              <a:t>classification accuracy  ·  draft acceptance rate  ·  time to resolution</a:t>
            </a:r>
          </a:p>
        </p:txBody>
      </p:sp>
      <p:sp>
        <p:nvSpPr>
          <p:cNvPr id="47" name="TextBox 46"/>
          <p:cNvSpPr txBox="1"/>
          <p:nvPr/>
        </p:nvSpPr>
        <p:spPr>
          <a:xfrm>
            <a:off x="457200" y="6510528"/>
            <a:ext cx="8229600" cy="228600"/>
          </a:xfrm>
          <a:prstGeom prst="rect">
            <a:avLst/>
          </a:prstGeom>
          <a:noFill/>
        </p:spPr>
        <p:txBody>
          <a:bodyPr wrap="square" lIns="0" tIns="0" rIns="0" bIns="0" anchor="t">
            <a:spAutoFit/>
          </a:bodyPr>
          <a:lstStyle/>
          <a:p>
            <a:pPr algn="l"/>
            <a:r>
              <a:rPr sz="1000" b="0">
                <a:solidFill>
                  <a:srgbClr val="6B7280"/>
                </a:solidFill>
                <a:latin typeface="Calibri"/>
              </a:rPr>
              <a:t>TicketTriage  ·  Swiss {ai} Weeks  ·  Challenge brief (docs/requirements.md)</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val 1"/>
          <p:cNvSpPr/>
          <p:nvPr/>
        </p:nvSpPr>
        <p:spPr>
          <a:xfrm>
            <a:off x="457200" y="384048"/>
            <a:ext cx="566928" cy="566928"/>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200" b="1">
                <a:solidFill>
                  <a:srgbClr val="FFFFFF"/>
                </a:solidFill>
                <a:latin typeface="Cambria"/>
              </a:rPr>
              <a:t>2</a:t>
            </a:r>
          </a:p>
        </p:txBody>
      </p:sp>
      <p:sp>
        <p:nvSpPr>
          <p:cNvPr id="3" name="TextBox 2"/>
          <p:cNvSpPr txBox="1"/>
          <p:nvPr/>
        </p:nvSpPr>
        <p:spPr>
          <a:xfrm>
            <a:off x="1234440" y="274320"/>
            <a:ext cx="10515600" cy="548640"/>
          </a:xfrm>
          <a:prstGeom prst="rect">
            <a:avLst/>
          </a:prstGeom>
          <a:noFill/>
        </p:spPr>
        <p:txBody>
          <a:bodyPr wrap="square" lIns="0" tIns="0" rIns="0" bIns="0" anchor="ctr">
            <a:spAutoFit/>
          </a:bodyPr>
          <a:lstStyle/>
          <a:p>
            <a:pPr algn="l"/>
            <a:r>
              <a:rPr sz="3000" b="1">
                <a:solidFill>
                  <a:srgbClr val="1B2A49"/>
                </a:solidFill>
                <a:latin typeface="Cambria"/>
              </a:rPr>
              <a:t>The data: 20,000 tickets, almost no signal</a:t>
            </a:r>
          </a:p>
        </p:txBody>
      </p:sp>
      <p:sp>
        <p:nvSpPr>
          <p:cNvPr id="4" name="TextBox 3"/>
          <p:cNvSpPr txBox="1"/>
          <p:nvPr/>
        </p:nvSpPr>
        <p:spPr>
          <a:xfrm>
            <a:off x="1234440" y="841248"/>
            <a:ext cx="10515600" cy="365760"/>
          </a:xfrm>
          <a:prstGeom prst="rect">
            <a:avLst/>
          </a:prstGeom>
          <a:noFill/>
        </p:spPr>
        <p:txBody>
          <a:bodyPr wrap="square" lIns="0" tIns="0" rIns="0" bIns="0" anchor="t">
            <a:spAutoFit/>
          </a:bodyPr>
          <a:lstStyle/>
          <a:p>
            <a:pPr algn="l"/>
            <a:r>
              <a:rPr sz="1400" b="0">
                <a:solidFill>
                  <a:srgbClr val="6B7280"/>
                </a:solidFill>
                <a:latin typeface="Calibri"/>
              </a:rPr>
              <a:t>What the training export can and cannot teach a model</a:t>
            </a:r>
          </a:p>
        </p:txBody>
      </p:sp>
      <p:sp>
        <p:nvSpPr>
          <p:cNvPr id="5" name="Rounded Rectangle 4"/>
          <p:cNvSpPr/>
          <p:nvPr/>
        </p:nvSpPr>
        <p:spPr>
          <a:xfrm>
            <a:off x="457200" y="1463040"/>
            <a:ext cx="3611880" cy="1325880"/>
          </a:xfrm>
          <a:prstGeom prst="roundRect">
            <a:avLst>
              <a:gd name="adj" fmla="val 5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85800" y="1572768"/>
            <a:ext cx="3200400" cy="502920"/>
          </a:xfrm>
          <a:prstGeom prst="rect">
            <a:avLst/>
          </a:prstGeom>
          <a:noFill/>
        </p:spPr>
        <p:txBody>
          <a:bodyPr wrap="square" lIns="0" tIns="0" rIns="0" bIns="0" anchor="t">
            <a:spAutoFit/>
          </a:bodyPr>
          <a:lstStyle/>
          <a:p>
            <a:pPr algn="l"/>
            <a:r>
              <a:rPr sz="3000" b="1">
                <a:solidFill>
                  <a:srgbClr val="E4572E"/>
                </a:solidFill>
                <a:latin typeface="Cambria"/>
              </a:rPr>
              <a:t>173</a:t>
            </a:r>
          </a:p>
        </p:txBody>
      </p:sp>
      <p:sp>
        <p:nvSpPr>
          <p:cNvPr id="7" name="TextBox 6"/>
          <p:cNvSpPr txBox="1"/>
          <p:nvPr/>
        </p:nvSpPr>
        <p:spPr>
          <a:xfrm>
            <a:off x="685800" y="2084832"/>
            <a:ext cx="3200400" cy="685800"/>
          </a:xfrm>
          <a:prstGeom prst="rect">
            <a:avLst/>
          </a:prstGeom>
          <a:noFill/>
        </p:spPr>
        <p:txBody>
          <a:bodyPr wrap="square" lIns="0" tIns="0" rIns="0" bIns="0" anchor="t">
            <a:spAutoFit/>
          </a:bodyPr>
          <a:lstStyle/>
          <a:p>
            <a:pPr algn="l"/>
            <a:r>
              <a:rPr sz="1250" b="0">
                <a:solidFill>
                  <a:srgbClr val="1F2937"/>
                </a:solidFill>
                <a:latin typeface="Calibri"/>
              </a:rPr>
              <a:t>distinct texts in 20,000 tickets: 11 templates × 20 services. The work type follows from the template.</a:t>
            </a:r>
          </a:p>
        </p:txBody>
      </p:sp>
      <p:sp>
        <p:nvSpPr>
          <p:cNvPr id="8" name="Rounded Rectangle 7"/>
          <p:cNvSpPr/>
          <p:nvPr/>
        </p:nvSpPr>
        <p:spPr>
          <a:xfrm>
            <a:off x="457200" y="2926080"/>
            <a:ext cx="3611880" cy="1325880"/>
          </a:xfrm>
          <a:prstGeom prst="roundRect">
            <a:avLst>
              <a:gd name="adj" fmla="val 5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85800" y="3035808"/>
            <a:ext cx="3200400" cy="502920"/>
          </a:xfrm>
          <a:prstGeom prst="rect">
            <a:avLst/>
          </a:prstGeom>
          <a:noFill/>
        </p:spPr>
        <p:txBody>
          <a:bodyPr wrap="square" lIns="0" tIns="0" rIns="0" bIns="0" anchor="t">
            <a:spAutoFit/>
          </a:bodyPr>
          <a:lstStyle/>
          <a:p>
            <a:pPr algn="l"/>
            <a:r>
              <a:rPr sz="3000" b="1">
                <a:solidFill>
                  <a:srgbClr val="E4572E"/>
                </a:solidFill>
                <a:latin typeface="Cambria"/>
              </a:rPr>
              <a:t>Random</a:t>
            </a:r>
          </a:p>
        </p:txBody>
      </p:sp>
      <p:sp>
        <p:nvSpPr>
          <p:cNvPr id="10" name="TextBox 9"/>
          <p:cNvSpPr txBox="1"/>
          <p:nvPr/>
        </p:nvSpPr>
        <p:spPr>
          <a:xfrm>
            <a:off x="685800" y="3547872"/>
            <a:ext cx="3200400" cy="685800"/>
          </a:xfrm>
          <a:prstGeom prst="rect">
            <a:avLst/>
          </a:prstGeom>
          <a:noFill/>
        </p:spPr>
        <p:txBody>
          <a:bodyPr wrap="square" lIns="0" tIns="0" rIns="0" bIns="0" anchor="t">
            <a:spAutoFit/>
          </a:bodyPr>
          <a:lstStyle/>
          <a:p>
            <a:pPr algn="l"/>
            <a:r>
              <a:rPr sz="1250" b="0">
                <a:solidFill>
                  <a:srgbClr val="1F2937"/>
                </a:solidFill>
                <a:latin typeface="Calibri"/>
              </a:rPr>
              <a:t>priority, urgency, impact, resolution status and assignee. Accuracy on unseen tickets equals guessing.</a:t>
            </a:r>
          </a:p>
        </p:txBody>
      </p:sp>
      <p:sp>
        <p:nvSpPr>
          <p:cNvPr id="11" name="Rounded Rectangle 10"/>
          <p:cNvSpPr/>
          <p:nvPr/>
        </p:nvSpPr>
        <p:spPr>
          <a:xfrm>
            <a:off x="457200" y="4389120"/>
            <a:ext cx="3611880" cy="1325880"/>
          </a:xfrm>
          <a:prstGeom prst="roundRect">
            <a:avLst>
              <a:gd name="adj" fmla="val 5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85800" y="4498848"/>
            <a:ext cx="3200400" cy="502920"/>
          </a:xfrm>
          <a:prstGeom prst="rect">
            <a:avLst/>
          </a:prstGeom>
          <a:noFill/>
        </p:spPr>
        <p:txBody>
          <a:bodyPr wrap="square" lIns="0" tIns="0" rIns="0" bIns="0" anchor="t">
            <a:spAutoFit/>
          </a:bodyPr>
          <a:lstStyle/>
          <a:p>
            <a:pPr algn="l"/>
            <a:r>
              <a:rPr sz="3000" b="1">
                <a:solidFill>
                  <a:srgbClr val="E4572E"/>
                </a:solidFill>
                <a:latin typeface="Cambria"/>
              </a:rPr>
              <a:t>3.6 %</a:t>
            </a:r>
          </a:p>
        </p:txBody>
      </p:sp>
      <p:sp>
        <p:nvSpPr>
          <p:cNvPr id="13" name="TextBox 12"/>
          <p:cNvSpPr txBox="1"/>
          <p:nvPr/>
        </p:nvSpPr>
        <p:spPr>
          <a:xfrm>
            <a:off x="685800" y="5010912"/>
            <a:ext cx="3200400" cy="685800"/>
          </a:xfrm>
          <a:prstGeom prst="rect">
            <a:avLst/>
          </a:prstGeom>
          <a:noFill/>
        </p:spPr>
        <p:txBody>
          <a:bodyPr wrap="square" lIns="0" tIns="0" rIns="0" bIns="0" anchor="t">
            <a:spAutoFit/>
          </a:bodyPr>
          <a:lstStyle/>
          <a:p>
            <a:pPr algn="l"/>
            <a:r>
              <a:rPr sz="1250" b="0">
                <a:solidFill>
                  <a:srgbClr val="1F2937"/>
                </a:solidFill>
                <a:latin typeface="Calibri"/>
              </a:rPr>
              <a:t>best accuracy for the assignee out of 30 people, over every field and model (chance: 3.3 %).</a:t>
            </a:r>
          </a:p>
        </p:txBody>
      </p:sp>
      <p:sp>
        <p:nvSpPr>
          <p:cNvPr id="14" name="Rounded Rectangle 13"/>
          <p:cNvSpPr/>
          <p:nvPr/>
        </p:nvSpPr>
        <p:spPr>
          <a:xfrm>
            <a:off x="457200" y="5852160"/>
            <a:ext cx="3611880" cy="548640"/>
          </a:xfrm>
          <a:prstGeom prst="roundRect">
            <a:avLst>
              <a:gd name="adj" fmla="val 5000"/>
            </a:avLst>
          </a:prstGeom>
          <a:solidFill>
            <a:srgbClr val="1B2A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40080" y="5852160"/>
            <a:ext cx="3291840" cy="548640"/>
          </a:xfrm>
          <a:prstGeom prst="rect">
            <a:avLst/>
          </a:prstGeom>
          <a:noFill/>
        </p:spPr>
        <p:txBody>
          <a:bodyPr wrap="square" lIns="0" tIns="0" rIns="0" bIns="0" anchor="ctr">
            <a:spAutoFit/>
          </a:bodyPr>
          <a:lstStyle/>
          <a:p>
            <a:pPr algn="l"/>
            <a:r>
              <a:rPr sz="1250" b="1">
                <a:solidFill>
                  <a:srgbClr val="FFFFFF"/>
                </a:solidFill>
                <a:latin typeface="Calibri"/>
              </a:rPr>
              <a:t>So the history is only good for retrieval and service → team.</a:t>
            </a:r>
          </a:p>
        </p:txBody>
      </p:sp>
      <p:pic>
        <p:nvPicPr>
          <p:cNvPr id="16" name="Picture 15" descr="02_signal_vs_noise.png"/>
          <p:cNvPicPr>
            <a:picLocks noChangeAspect="1"/>
          </p:cNvPicPr>
          <p:nvPr/>
        </p:nvPicPr>
        <p:blipFill>
          <a:blip r:embed="rId3"/>
          <a:stretch>
            <a:fillRect/>
          </a:stretch>
        </p:blipFill>
        <p:spPr>
          <a:xfrm>
            <a:off x="4343400" y="1463040"/>
            <a:ext cx="7388352" cy="3657687"/>
          </a:xfrm>
          <a:prstGeom prst="rect">
            <a:avLst/>
          </a:prstGeom>
          <a:ln w="9525">
            <a:solidFill>
              <a:srgbClr val="D9DEE7"/>
            </a:solidFill>
          </a:ln>
        </p:spPr>
      </p:pic>
      <p:pic>
        <p:nvPicPr>
          <p:cNvPr id="17" name="Picture 16" descr="raw_record.png"/>
          <p:cNvPicPr>
            <a:picLocks noChangeAspect="1"/>
          </p:cNvPicPr>
          <p:nvPr/>
        </p:nvPicPr>
        <p:blipFill>
          <a:blip r:embed="rId4"/>
          <a:stretch>
            <a:fillRect/>
          </a:stretch>
        </p:blipFill>
        <p:spPr>
          <a:xfrm>
            <a:off x="4343400" y="5248743"/>
            <a:ext cx="2414358" cy="1143000"/>
          </a:xfrm>
          <a:prstGeom prst="rect">
            <a:avLst/>
          </a:prstGeom>
          <a:ln w="9525">
            <a:solidFill>
              <a:srgbClr val="D9DEE7"/>
            </a:solidFill>
          </a:ln>
        </p:spPr>
      </p:pic>
      <p:pic>
        <p:nvPicPr>
          <p:cNvPr id="18" name="Picture 17" descr="03_priority.png"/>
          <p:cNvPicPr>
            <a:picLocks noChangeAspect="1"/>
          </p:cNvPicPr>
          <p:nvPr/>
        </p:nvPicPr>
        <p:blipFill>
          <a:blip r:embed="rId5"/>
          <a:stretch>
            <a:fillRect/>
          </a:stretch>
        </p:blipFill>
        <p:spPr>
          <a:xfrm>
            <a:off x="6940638" y="5248743"/>
            <a:ext cx="2119377" cy="1143000"/>
          </a:xfrm>
          <a:prstGeom prst="rect">
            <a:avLst/>
          </a:prstGeom>
          <a:ln w="9525">
            <a:solidFill>
              <a:srgbClr val="D9DEE7"/>
            </a:solidFill>
          </a:ln>
        </p:spPr>
      </p:pic>
      <p:sp>
        <p:nvSpPr>
          <p:cNvPr id="19" name="TextBox 18"/>
          <p:cNvSpPr txBox="1"/>
          <p:nvPr/>
        </p:nvSpPr>
        <p:spPr>
          <a:xfrm>
            <a:off x="9288615" y="5248743"/>
            <a:ext cx="2443136" cy="1143000"/>
          </a:xfrm>
          <a:prstGeom prst="rect">
            <a:avLst/>
          </a:prstGeom>
          <a:noFill/>
        </p:spPr>
        <p:txBody>
          <a:bodyPr wrap="square" lIns="0" tIns="0" rIns="0" bIns="0" anchor="ctr">
            <a:spAutoFit/>
          </a:bodyPr>
          <a:lstStyle/>
          <a:p>
            <a:pPr algn="l">
              <a:spcAft>
                <a:spcPts val="300"/>
              </a:spcAft>
            </a:pPr>
            <a:r>
              <a:rPr sz="1150" b="0">
                <a:solidFill>
                  <a:srgbClr val="6B7280"/>
                </a:solidFill>
                <a:latin typeface="Calibri"/>
              </a:rPr>
              <a:t>Evidence</a:t>
            </a:r>
          </a:p>
          <a:p>
            <a:pPr algn="l">
              <a:spcAft>
                <a:spcPts val="300"/>
              </a:spcAft>
            </a:pPr>
            <a:r>
              <a:rPr sz="1150" b="0">
                <a:solidFill>
                  <a:srgbClr val="6B7280"/>
                </a:solidFill>
                <a:latin typeface="Calibri"/>
              </a:rPr>
              <a:t>Left: a raw ticket, the random fields are marked. Right: priority against urgency and impact, flat.</a:t>
            </a:r>
          </a:p>
        </p:txBody>
      </p:sp>
      <p:sp>
        <p:nvSpPr>
          <p:cNvPr id="20" name="TextBox 19"/>
          <p:cNvSpPr txBox="1"/>
          <p:nvPr/>
        </p:nvSpPr>
        <p:spPr>
          <a:xfrm>
            <a:off x="457200" y="6510528"/>
            <a:ext cx="8229600" cy="228600"/>
          </a:xfrm>
          <a:prstGeom prst="rect">
            <a:avLst/>
          </a:prstGeom>
          <a:noFill/>
        </p:spPr>
        <p:txBody>
          <a:bodyPr wrap="square" lIns="0" tIns="0" rIns="0" bIns="0" anchor="t">
            <a:spAutoFit/>
          </a:bodyPr>
          <a:lstStyle/>
          <a:p>
            <a:pPr algn="l"/>
            <a:r>
              <a:rPr sz="1000" b="0">
                <a:solidFill>
                  <a:srgbClr val="6B7280"/>
                </a:solidFill>
                <a:latin typeface="Calibri"/>
              </a:rPr>
              <a:t>TicketTriage  ·  Swiss {ai} Weeks  ·  Data analysis (Notebooks/ticket_data_analysis.ipynb)</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val 1"/>
          <p:cNvSpPr/>
          <p:nvPr/>
        </p:nvSpPr>
        <p:spPr>
          <a:xfrm>
            <a:off x="457200" y="384048"/>
            <a:ext cx="566928" cy="566928"/>
          </a:xfrm>
          <a:prstGeom prst="ellipse">
            <a:avLst/>
          </a:prstGeom>
          <a:solidFill>
            <a:srgbClr val="1B2A49"/>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200" b="1">
                <a:solidFill>
                  <a:srgbClr val="FFFFFF"/>
                </a:solidFill>
                <a:latin typeface="Cambria"/>
              </a:rPr>
              <a:t>3</a:t>
            </a:r>
          </a:p>
        </p:txBody>
      </p:sp>
      <p:sp>
        <p:nvSpPr>
          <p:cNvPr id="3" name="TextBox 2"/>
          <p:cNvSpPr txBox="1"/>
          <p:nvPr/>
        </p:nvSpPr>
        <p:spPr>
          <a:xfrm>
            <a:off x="1234440" y="274320"/>
            <a:ext cx="10515600" cy="548640"/>
          </a:xfrm>
          <a:prstGeom prst="rect">
            <a:avLst/>
          </a:prstGeom>
          <a:noFill/>
        </p:spPr>
        <p:txBody>
          <a:bodyPr wrap="square" lIns="0" tIns="0" rIns="0" bIns="0" anchor="ctr">
            <a:spAutoFit/>
          </a:bodyPr>
          <a:lstStyle/>
          <a:p>
            <a:pPr algn="l"/>
            <a:r>
              <a:rPr sz="3000" b="1">
                <a:solidFill>
                  <a:srgbClr val="1B2A49"/>
                </a:solidFill>
                <a:latin typeface="Cambria"/>
              </a:rPr>
              <a:t>Architecture: ingest, analyse in the background, review</a:t>
            </a:r>
          </a:p>
        </p:txBody>
      </p:sp>
      <p:sp>
        <p:nvSpPr>
          <p:cNvPr id="4" name="TextBox 3"/>
          <p:cNvSpPr txBox="1"/>
          <p:nvPr/>
        </p:nvSpPr>
        <p:spPr>
          <a:xfrm>
            <a:off x="1234440" y="841248"/>
            <a:ext cx="10515600" cy="365760"/>
          </a:xfrm>
          <a:prstGeom prst="rect">
            <a:avLst/>
          </a:prstGeom>
          <a:noFill/>
        </p:spPr>
        <p:txBody>
          <a:bodyPr wrap="square" lIns="0" tIns="0" rIns="0" bIns="0" anchor="t">
            <a:spAutoFit/>
          </a:bodyPr>
          <a:lstStyle/>
          <a:p>
            <a:pPr algn="l"/>
            <a:r>
              <a:rPr sz="1400" b="0">
                <a:solidFill>
                  <a:srgbClr val="6B7280"/>
                </a:solidFill>
                <a:latin typeface="Calibri"/>
              </a:rPr>
              <a:t>Tickets are analysed ahead of time; opening a ticket never calls the LLM</a:t>
            </a:r>
          </a:p>
        </p:txBody>
      </p:sp>
      <p:sp>
        <p:nvSpPr>
          <p:cNvPr id="5" name="TextBox 4"/>
          <p:cNvSpPr txBox="1"/>
          <p:nvPr/>
        </p:nvSpPr>
        <p:spPr>
          <a:xfrm>
            <a:off x="457200" y="1371600"/>
            <a:ext cx="5486400" cy="274320"/>
          </a:xfrm>
          <a:prstGeom prst="rect">
            <a:avLst/>
          </a:prstGeom>
          <a:noFill/>
        </p:spPr>
        <p:txBody>
          <a:bodyPr wrap="square" lIns="0" tIns="0" rIns="0" bIns="0" anchor="t">
            <a:spAutoFit/>
          </a:bodyPr>
          <a:lstStyle/>
          <a:p>
            <a:pPr algn="l"/>
            <a:r>
              <a:rPr sz="1100" b="1">
                <a:solidFill>
                  <a:srgbClr val="6B7280"/>
                </a:solidFill>
                <a:latin typeface="Calibri"/>
              </a:rPr>
              <a:t>SYSTEM FLOW</a:t>
            </a:r>
          </a:p>
        </p:txBody>
      </p:sp>
      <p:sp>
        <p:nvSpPr>
          <p:cNvPr id="6" name="Rounded Rectangle 5"/>
          <p:cNvSpPr/>
          <p:nvPr/>
        </p:nvSpPr>
        <p:spPr>
          <a:xfrm>
            <a:off x="457200" y="1645920"/>
            <a:ext cx="1691640" cy="1005840"/>
          </a:xfrm>
          <a:prstGeom prst="roundRect">
            <a:avLst>
              <a:gd name="adj" fmla="val 5000"/>
            </a:avLst>
          </a:prstGeom>
          <a:solidFill>
            <a:srgbClr val="F3F5F9"/>
          </a:solidFill>
          <a:ln w="12700">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66928" y="1719072"/>
            <a:ext cx="1472184" cy="320040"/>
          </a:xfrm>
          <a:prstGeom prst="rect">
            <a:avLst/>
          </a:prstGeom>
          <a:noFill/>
        </p:spPr>
        <p:txBody>
          <a:bodyPr wrap="square" lIns="0" tIns="0" rIns="0" bIns="0" anchor="t">
            <a:spAutoFit/>
          </a:bodyPr>
          <a:lstStyle/>
          <a:p>
            <a:pPr algn="l"/>
            <a:r>
              <a:rPr sz="1500" b="1">
                <a:solidFill>
                  <a:srgbClr val="1B2A49"/>
                </a:solidFill>
                <a:latin typeface="Cambria"/>
              </a:rPr>
              <a:t>Jira export</a:t>
            </a:r>
          </a:p>
        </p:txBody>
      </p:sp>
      <p:sp>
        <p:nvSpPr>
          <p:cNvPr id="8" name="TextBox 7"/>
          <p:cNvSpPr txBox="1"/>
          <p:nvPr/>
        </p:nvSpPr>
        <p:spPr>
          <a:xfrm>
            <a:off x="566928" y="2057400"/>
            <a:ext cx="1472184" cy="548640"/>
          </a:xfrm>
          <a:prstGeom prst="rect">
            <a:avLst/>
          </a:prstGeom>
          <a:noFill/>
        </p:spPr>
        <p:txBody>
          <a:bodyPr wrap="square" lIns="0" tIns="0" rIns="0" bIns="0" anchor="t">
            <a:spAutoFit/>
          </a:bodyPr>
          <a:lstStyle/>
          <a:p>
            <a:pPr algn="l"/>
            <a:r>
              <a:rPr sz="1150" b="0">
                <a:solidFill>
                  <a:srgbClr val="1F2937"/>
                </a:solidFill>
                <a:latin typeface="Calibri"/>
              </a:rPr>
              <a:t>Upload page or Batch</a:t>
            </a:r>
          </a:p>
        </p:txBody>
      </p:sp>
      <p:sp>
        <p:nvSpPr>
          <p:cNvPr id="9" name="Right Arrow 8"/>
          <p:cNvSpPr/>
          <p:nvPr/>
        </p:nvSpPr>
        <p:spPr>
          <a:xfrm>
            <a:off x="2157984" y="2048256"/>
            <a:ext cx="204825" cy="182880"/>
          </a:xfrm>
          <a:prstGeom prst="rightArrow">
            <a:avLst/>
          </a:prstGeom>
          <a:solidFill>
            <a:srgbClr val="9AA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2371953" y="1645920"/>
            <a:ext cx="1691640" cy="1005840"/>
          </a:xfrm>
          <a:prstGeom prst="roundRect">
            <a:avLst>
              <a:gd name="adj" fmla="val 5000"/>
            </a:avLst>
          </a:prstGeom>
          <a:solidFill>
            <a:srgbClr val="F3F5F9"/>
          </a:solidFill>
          <a:ln w="12700">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481681" y="1719072"/>
            <a:ext cx="1472184" cy="320040"/>
          </a:xfrm>
          <a:prstGeom prst="rect">
            <a:avLst/>
          </a:prstGeom>
          <a:noFill/>
        </p:spPr>
        <p:txBody>
          <a:bodyPr wrap="square" lIns="0" tIns="0" rIns="0" bIns="0" anchor="t">
            <a:spAutoFit/>
          </a:bodyPr>
          <a:lstStyle/>
          <a:p>
            <a:pPr algn="l"/>
            <a:r>
              <a:rPr sz="1500" b="1">
                <a:solidFill>
                  <a:srgbClr val="1B2A49"/>
                </a:solidFill>
                <a:latin typeface="Cambria"/>
              </a:rPr>
              <a:t>Ingest</a:t>
            </a:r>
          </a:p>
        </p:txBody>
      </p:sp>
      <p:sp>
        <p:nvSpPr>
          <p:cNvPr id="12" name="TextBox 11"/>
          <p:cNvSpPr txBox="1"/>
          <p:nvPr/>
        </p:nvSpPr>
        <p:spPr>
          <a:xfrm>
            <a:off x="2481681" y="2057400"/>
            <a:ext cx="1472184" cy="548640"/>
          </a:xfrm>
          <a:prstGeom prst="rect">
            <a:avLst/>
          </a:prstGeom>
          <a:noFill/>
        </p:spPr>
        <p:txBody>
          <a:bodyPr wrap="square" lIns="0" tIns="0" rIns="0" bIns="0" anchor="t">
            <a:spAutoFit/>
          </a:bodyPr>
          <a:lstStyle/>
          <a:p>
            <a:pPr algn="l"/>
            <a:r>
              <a:rPr sz="1150" b="0">
                <a:solidFill>
                  <a:srgbClr val="1F2937"/>
                </a:solidFill>
                <a:latin typeface="Calibri"/>
              </a:rPr>
              <a:t>saves tickets as New</a:t>
            </a:r>
          </a:p>
        </p:txBody>
      </p:sp>
      <p:sp>
        <p:nvSpPr>
          <p:cNvPr id="13" name="Right Arrow 12"/>
          <p:cNvSpPr/>
          <p:nvPr/>
        </p:nvSpPr>
        <p:spPr>
          <a:xfrm>
            <a:off x="4072737" y="2048256"/>
            <a:ext cx="204825" cy="182880"/>
          </a:xfrm>
          <a:prstGeom prst="rightArrow">
            <a:avLst/>
          </a:prstGeom>
          <a:solidFill>
            <a:srgbClr val="9AA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4286707" y="1645920"/>
            <a:ext cx="1691640" cy="1005840"/>
          </a:xfrm>
          <a:prstGeom prst="roundRect">
            <a:avLst>
              <a:gd name="adj" fmla="val 5000"/>
            </a:avLst>
          </a:prstGeom>
          <a:solidFill>
            <a:srgbClr val="F3F5F9"/>
          </a:solidFill>
          <a:ln w="12700">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396435" y="1719072"/>
            <a:ext cx="1472184" cy="320040"/>
          </a:xfrm>
          <a:prstGeom prst="rect">
            <a:avLst/>
          </a:prstGeom>
          <a:noFill/>
        </p:spPr>
        <p:txBody>
          <a:bodyPr wrap="square" lIns="0" tIns="0" rIns="0" bIns="0" anchor="t">
            <a:spAutoFit/>
          </a:bodyPr>
          <a:lstStyle/>
          <a:p>
            <a:pPr algn="l"/>
            <a:r>
              <a:rPr sz="1500" b="1">
                <a:solidFill>
                  <a:srgbClr val="1B2A49"/>
                </a:solidFill>
                <a:latin typeface="Cambria"/>
              </a:rPr>
              <a:t>Analysis worker</a:t>
            </a:r>
          </a:p>
        </p:txBody>
      </p:sp>
      <p:sp>
        <p:nvSpPr>
          <p:cNvPr id="16" name="TextBox 15"/>
          <p:cNvSpPr txBox="1"/>
          <p:nvPr/>
        </p:nvSpPr>
        <p:spPr>
          <a:xfrm>
            <a:off x="4396435" y="2057400"/>
            <a:ext cx="1472184" cy="548640"/>
          </a:xfrm>
          <a:prstGeom prst="rect">
            <a:avLst/>
          </a:prstGeom>
          <a:noFill/>
        </p:spPr>
        <p:txBody>
          <a:bodyPr wrap="square" lIns="0" tIns="0" rIns="0" bIns="0" anchor="t">
            <a:spAutoFit/>
          </a:bodyPr>
          <a:lstStyle/>
          <a:p>
            <a:pPr algn="l"/>
            <a:r>
              <a:rPr sz="1150" b="0">
                <a:solidFill>
                  <a:srgbClr val="1F2937"/>
                </a:solidFill>
                <a:latin typeface="Calibri"/>
              </a:rPr>
              <a:t>claims New tickets (lease)</a:t>
            </a:r>
          </a:p>
        </p:txBody>
      </p:sp>
      <p:sp>
        <p:nvSpPr>
          <p:cNvPr id="17" name="Right Arrow 16"/>
          <p:cNvSpPr/>
          <p:nvPr/>
        </p:nvSpPr>
        <p:spPr>
          <a:xfrm>
            <a:off x="5987491" y="2048256"/>
            <a:ext cx="204825" cy="182880"/>
          </a:xfrm>
          <a:prstGeom prst="rightArrow">
            <a:avLst/>
          </a:prstGeom>
          <a:solidFill>
            <a:srgbClr val="9AA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6201460" y="1645920"/>
            <a:ext cx="1691640" cy="1005840"/>
          </a:xfrm>
          <a:prstGeom prst="roundRect">
            <a:avLst>
              <a:gd name="adj" fmla="val 5000"/>
            </a:avLst>
          </a:prstGeom>
          <a:solidFill>
            <a:srgbClr val="F3F5F9"/>
          </a:solidFill>
          <a:ln w="12700">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311188" y="1719072"/>
            <a:ext cx="1472184" cy="320040"/>
          </a:xfrm>
          <a:prstGeom prst="rect">
            <a:avLst/>
          </a:prstGeom>
          <a:noFill/>
        </p:spPr>
        <p:txBody>
          <a:bodyPr wrap="square" lIns="0" tIns="0" rIns="0" bIns="0" anchor="t">
            <a:spAutoFit/>
          </a:bodyPr>
          <a:lstStyle/>
          <a:p>
            <a:pPr algn="l"/>
            <a:r>
              <a:rPr sz="1500" b="1">
                <a:solidFill>
                  <a:srgbClr val="1B2A49"/>
                </a:solidFill>
                <a:latin typeface="Cambria"/>
              </a:rPr>
              <a:t>Triage pipeline</a:t>
            </a:r>
          </a:p>
        </p:txBody>
      </p:sp>
      <p:sp>
        <p:nvSpPr>
          <p:cNvPr id="20" name="TextBox 19"/>
          <p:cNvSpPr txBox="1"/>
          <p:nvPr/>
        </p:nvSpPr>
        <p:spPr>
          <a:xfrm>
            <a:off x="6311188" y="2057400"/>
            <a:ext cx="1472184" cy="548640"/>
          </a:xfrm>
          <a:prstGeom prst="rect">
            <a:avLst/>
          </a:prstGeom>
          <a:noFill/>
        </p:spPr>
        <p:txBody>
          <a:bodyPr wrap="square" lIns="0" tIns="0" rIns="0" bIns="0" anchor="t">
            <a:spAutoFit/>
          </a:bodyPr>
          <a:lstStyle/>
          <a:p>
            <a:pPr algn="l"/>
            <a:r>
              <a:rPr sz="1150" b="0">
                <a:solidFill>
                  <a:srgbClr val="1F2937"/>
                </a:solidFill>
                <a:latin typeface="Calibri"/>
              </a:rPr>
              <a:t>one ticket at a time</a:t>
            </a:r>
          </a:p>
        </p:txBody>
      </p:sp>
      <p:sp>
        <p:nvSpPr>
          <p:cNvPr id="21" name="Right Arrow 20"/>
          <p:cNvSpPr/>
          <p:nvPr/>
        </p:nvSpPr>
        <p:spPr>
          <a:xfrm>
            <a:off x="7902244" y="2048256"/>
            <a:ext cx="204825" cy="182880"/>
          </a:xfrm>
          <a:prstGeom prst="rightArrow">
            <a:avLst/>
          </a:prstGeom>
          <a:solidFill>
            <a:srgbClr val="9AA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ounded Rectangle 21"/>
          <p:cNvSpPr/>
          <p:nvPr/>
        </p:nvSpPr>
        <p:spPr>
          <a:xfrm>
            <a:off x="8116214" y="1645920"/>
            <a:ext cx="1691640" cy="1005840"/>
          </a:xfrm>
          <a:prstGeom prst="roundRect">
            <a:avLst>
              <a:gd name="adj" fmla="val 5000"/>
            </a:avLst>
          </a:prstGeom>
          <a:solidFill>
            <a:srgbClr val="F3F5F9"/>
          </a:solidFill>
          <a:ln w="12700">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225942" y="1719072"/>
            <a:ext cx="1472184" cy="320040"/>
          </a:xfrm>
          <a:prstGeom prst="rect">
            <a:avLst/>
          </a:prstGeom>
          <a:noFill/>
        </p:spPr>
        <p:txBody>
          <a:bodyPr wrap="square" lIns="0" tIns="0" rIns="0" bIns="0" anchor="t">
            <a:spAutoFit/>
          </a:bodyPr>
          <a:lstStyle/>
          <a:p>
            <a:pPr algn="l"/>
            <a:r>
              <a:rPr sz="1500" b="1">
                <a:solidFill>
                  <a:srgbClr val="1B2A49"/>
                </a:solidFill>
                <a:latin typeface="Cambria"/>
              </a:rPr>
              <a:t>Review UI</a:t>
            </a:r>
          </a:p>
        </p:txBody>
      </p:sp>
      <p:sp>
        <p:nvSpPr>
          <p:cNvPr id="24" name="TextBox 23"/>
          <p:cNvSpPr txBox="1"/>
          <p:nvPr/>
        </p:nvSpPr>
        <p:spPr>
          <a:xfrm>
            <a:off x="8225942" y="2057400"/>
            <a:ext cx="1472184" cy="548640"/>
          </a:xfrm>
          <a:prstGeom prst="rect">
            <a:avLst/>
          </a:prstGeom>
          <a:noFill/>
        </p:spPr>
        <p:txBody>
          <a:bodyPr wrap="square" lIns="0" tIns="0" rIns="0" bIns="0" anchor="t">
            <a:spAutoFit/>
          </a:bodyPr>
          <a:lstStyle/>
          <a:p>
            <a:pPr algn="l"/>
            <a:r>
              <a:rPr sz="1150" b="0">
                <a:solidFill>
                  <a:srgbClr val="1F2937"/>
                </a:solidFill>
                <a:latin typeface="Calibri"/>
              </a:rPr>
              <a:t>Blazor: approve, edit, reject</a:t>
            </a:r>
          </a:p>
        </p:txBody>
      </p:sp>
      <p:sp>
        <p:nvSpPr>
          <p:cNvPr id="25" name="Right Arrow 24"/>
          <p:cNvSpPr/>
          <p:nvPr/>
        </p:nvSpPr>
        <p:spPr>
          <a:xfrm>
            <a:off x="9816998" y="2048256"/>
            <a:ext cx="204825" cy="182880"/>
          </a:xfrm>
          <a:prstGeom prst="rightArrow">
            <a:avLst/>
          </a:prstGeom>
          <a:solidFill>
            <a:srgbClr val="9AA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ounded Rectangle 25"/>
          <p:cNvSpPr/>
          <p:nvPr/>
        </p:nvSpPr>
        <p:spPr>
          <a:xfrm>
            <a:off x="10030968" y="1645920"/>
            <a:ext cx="1691640" cy="1005840"/>
          </a:xfrm>
          <a:prstGeom prst="roundRect">
            <a:avLst>
              <a:gd name="adj" fmla="val 5000"/>
            </a:avLst>
          </a:prstGeom>
          <a:solidFill>
            <a:srgbClr val="F3F5F9"/>
          </a:solidFill>
          <a:ln w="12700">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10140696" y="1719072"/>
            <a:ext cx="1472184" cy="320040"/>
          </a:xfrm>
          <a:prstGeom prst="rect">
            <a:avLst/>
          </a:prstGeom>
          <a:noFill/>
        </p:spPr>
        <p:txBody>
          <a:bodyPr wrap="square" lIns="0" tIns="0" rIns="0" bIns="0" anchor="t">
            <a:spAutoFit/>
          </a:bodyPr>
          <a:lstStyle/>
          <a:p>
            <a:pPr algn="l"/>
            <a:r>
              <a:rPr sz="1500" b="1">
                <a:solidFill>
                  <a:srgbClr val="1B2A49"/>
                </a:solidFill>
                <a:latin typeface="Cambria"/>
              </a:rPr>
              <a:t>result.json</a:t>
            </a:r>
          </a:p>
        </p:txBody>
      </p:sp>
      <p:sp>
        <p:nvSpPr>
          <p:cNvPr id="28" name="TextBox 27"/>
          <p:cNvSpPr txBox="1"/>
          <p:nvPr/>
        </p:nvSpPr>
        <p:spPr>
          <a:xfrm>
            <a:off x="10140696" y="2057400"/>
            <a:ext cx="1472184" cy="548640"/>
          </a:xfrm>
          <a:prstGeom prst="rect">
            <a:avLst/>
          </a:prstGeom>
          <a:noFill/>
        </p:spPr>
        <p:txBody>
          <a:bodyPr wrap="square" lIns="0" tIns="0" rIns="0" bIns="0" anchor="t">
            <a:spAutoFit/>
          </a:bodyPr>
          <a:lstStyle/>
          <a:p>
            <a:pPr algn="l"/>
            <a:r>
              <a:rPr sz="1150" b="0">
                <a:solidFill>
                  <a:srgbClr val="1F2937"/>
                </a:solidFill>
                <a:latin typeface="Calibri"/>
              </a:rPr>
              <a:t>exported from stored suggestions</a:t>
            </a:r>
          </a:p>
        </p:txBody>
      </p:sp>
      <p:sp>
        <p:nvSpPr>
          <p:cNvPr id="29" name="Rounded Rectangle 28"/>
          <p:cNvSpPr/>
          <p:nvPr/>
        </p:nvSpPr>
        <p:spPr>
          <a:xfrm>
            <a:off x="2371953" y="2788920"/>
            <a:ext cx="7435900" cy="384048"/>
          </a:xfrm>
          <a:prstGeom prst="roundRect">
            <a:avLst>
              <a:gd name="adj" fmla="val 30000"/>
            </a:avLst>
          </a:prstGeom>
          <a:solidFill>
            <a:srgbClr val="1B2A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2371953" y="2788920"/>
            <a:ext cx="7435900" cy="384048"/>
          </a:xfrm>
          <a:prstGeom prst="rect">
            <a:avLst/>
          </a:prstGeom>
          <a:noFill/>
        </p:spPr>
        <p:txBody>
          <a:bodyPr wrap="square" lIns="0" tIns="0" rIns="0" bIns="0" anchor="ctr">
            <a:spAutoFit/>
          </a:bodyPr>
          <a:lstStyle/>
          <a:p>
            <a:pPr algn="ctr"/>
            <a:r>
              <a:rPr sz="1250" b="1">
                <a:solidFill>
                  <a:srgbClr val="FFFFFF"/>
                </a:solidFill>
                <a:latin typeface="Calibri"/>
              </a:rPr>
              <a:t>SQLite (triage-db): tickets, suggestions, reviews, failure log</a:t>
            </a:r>
          </a:p>
        </p:txBody>
      </p:sp>
      <p:sp>
        <p:nvSpPr>
          <p:cNvPr id="31" name="TextBox 30"/>
          <p:cNvSpPr txBox="1"/>
          <p:nvPr/>
        </p:nvSpPr>
        <p:spPr>
          <a:xfrm>
            <a:off x="457200" y="3474720"/>
            <a:ext cx="5486400" cy="274320"/>
          </a:xfrm>
          <a:prstGeom prst="rect">
            <a:avLst/>
          </a:prstGeom>
          <a:noFill/>
        </p:spPr>
        <p:txBody>
          <a:bodyPr wrap="square" lIns="0" tIns="0" rIns="0" bIns="0" anchor="t">
            <a:spAutoFit/>
          </a:bodyPr>
          <a:lstStyle/>
          <a:p>
            <a:pPr algn="l"/>
            <a:r>
              <a:rPr sz="1100" b="1">
                <a:solidFill>
                  <a:srgbClr val="6B7280"/>
                </a:solidFill>
                <a:latin typeface="Calibri"/>
              </a:rPr>
              <a:t>TRIAGE PIPELINE, PER TICKET</a:t>
            </a:r>
          </a:p>
        </p:txBody>
      </p:sp>
      <p:sp>
        <p:nvSpPr>
          <p:cNvPr id="32" name="Rounded Rectangle 31"/>
          <p:cNvSpPr/>
          <p:nvPr/>
        </p:nvSpPr>
        <p:spPr>
          <a:xfrm>
            <a:off x="7315200" y="3493008"/>
            <a:ext cx="201168" cy="201168"/>
          </a:xfrm>
          <a:prstGeom prst="roundRect">
            <a:avLst>
              <a:gd name="adj" fmla="val 30000"/>
            </a:avLst>
          </a:prstGeom>
          <a:solidFill>
            <a:srgbClr val="DCE8FA"/>
          </a:solidFill>
          <a:ln w="12700">
            <a:solidFill>
              <a:srgbClr val="1E3A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7589520" y="3465576"/>
            <a:ext cx="1737360" cy="256032"/>
          </a:xfrm>
          <a:prstGeom prst="rect">
            <a:avLst/>
          </a:prstGeom>
          <a:noFill/>
        </p:spPr>
        <p:txBody>
          <a:bodyPr wrap="square" lIns="0" tIns="0" rIns="0" bIns="0" anchor="ctr">
            <a:spAutoFit/>
          </a:bodyPr>
          <a:lstStyle/>
          <a:p>
            <a:pPr algn="l"/>
            <a:r>
              <a:rPr sz="1150" b="0">
                <a:solidFill>
                  <a:srgbClr val="1F2937"/>
                </a:solidFill>
                <a:latin typeface="Calibri"/>
              </a:rPr>
              <a:t>Code decides</a:t>
            </a:r>
          </a:p>
        </p:txBody>
      </p:sp>
      <p:sp>
        <p:nvSpPr>
          <p:cNvPr id="34" name="Rounded Rectangle 33"/>
          <p:cNvSpPr/>
          <p:nvPr/>
        </p:nvSpPr>
        <p:spPr>
          <a:xfrm>
            <a:off x="9326880" y="3493008"/>
            <a:ext cx="201168" cy="201168"/>
          </a:xfrm>
          <a:prstGeom prst="roundRect">
            <a:avLst>
              <a:gd name="adj" fmla="val 30000"/>
            </a:avLst>
          </a:prstGeom>
          <a:solidFill>
            <a:srgbClr val="FDEFC7"/>
          </a:solidFill>
          <a:ln w="12700">
            <a:solidFill>
              <a:srgbClr val="7835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9601200" y="3465576"/>
            <a:ext cx="1737360" cy="256032"/>
          </a:xfrm>
          <a:prstGeom prst="rect">
            <a:avLst/>
          </a:prstGeom>
          <a:noFill/>
        </p:spPr>
        <p:txBody>
          <a:bodyPr wrap="square" lIns="0" tIns="0" rIns="0" bIns="0" anchor="ctr">
            <a:spAutoFit/>
          </a:bodyPr>
          <a:lstStyle/>
          <a:p>
            <a:pPr algn="l"/>
            <a:r>
              <a:rPr sz="1150" b="0">
                <a:solidFill>
                  <a:srgbClr val="1F2937"/>
                </a:solidFill>
                <a:latin typeface="Calibri"/>
              </a:rPr>
              <a:t>LLM decides</a:t>
            </a:r>
          </a:p>
        </p:txBody>
      </p:sp>
      <p:sp>
        <p:nvSpPr>
          <p:cNvPr id="36" name="Rounded Rectangle 35"/>
          <p:cNvSpPr/>
          <p:nvPr/>
        </p:nvSpPr>
        <p:spPr>
          <a:xfrm>
            <a:off x="457200" y="3794760"/>
            <a:ext cx="1691640" cy="1234440"/>
          </a:xfrm>
          <a:prstGeom prst="roundRect">
            <a:avLst>
              <a:gd name="adj" fmla="val 5000"/>
            </a:avLst>
          </a:prstGeom>
          <a:solidFill>
            <a:srgbClr val="DCE8FA"/>
          </a:solidFill>
          <a:ln w="12700">
            <a:solidFill>
              <a:srgbClr val="1E3A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566928" y="3867912"/>
            <a:ext cx="1472184" cy="320040"/>
          </a:xfrm>
          <a:prstGeom prst="rect">
            <a:avLst/>
          </a:prstGeom>
          <a:noFill/>
        </p:spPr>
        <p:txBody>
          <a:bodyPr wrap="square" lIns="0" tIns="0" rIns="0" bIns="0" anchor="t">
            <a:spAutoFit/>
          </a:bodyPr>
          <a:lstStyle/>
          <a:p>
            <a:pPr algn="l"/>
            <a:r>
              <a:rPr sz="1500" b="1">
                <a:solidFill>
                  <a:srgbClr val="1E3A8A"/>
                </a:solidFill>
                <a:latin typeface="Cambria"/>
              </a:rPr>
              <a:t>1 Retrieve</a:t>
            </a:r>
          </a:p>
        </p:txBody>
      </p:sp>
      <p:sp>
        <p:nvSpPr>
          <p:cNvPr id="38" name="TextBox 37"/>
          <p:cNvSpPr txBox="1"/>
          <p:nvPr/>
        </p:nvSpPr>
        <p:spPr>
          <a:xfrm>
            <a:off x="566928" y="4206240"/>
            <a:ext cx="1472184" cy="777240"/>
          </a:xfrm>
          <a:prstGeom prst="rect">
            <a:avLst/>
          </a:prstGeom>
          <a:noFill/>
        </p:spPr>
        <p:txBody>
          <a:bodyPr wrap="square" lIns="0" tIns="0" rIns="0" bIns="0" anchor="t">
            <a:spAutoFit/>
          </a:bodyPr>
          <a:lstStyle/>
          <a:p>
            <a:pPr algn="l"/>
            <a:r>
              <a:rPr sz="1150" b="0">
                <a:solidFill>
                  <a:srgbClr val="1F2937"/>
                </a:solidFill>
                <a:latin typeface="Calibri"/>
              </a:rPr>
              <a:t>similar tickets: TF-IDF kNN over the history</a:t>
            </a:r>
          </a:p>
        </p:txBody>
      </p:sp>
      <p:sp>
        <p:nvSpPr>
          <p:cNvPr id="39" name="Right Arrow 38"/>
          <p:cNvSpPr/>
          <p:nvPr/>
        </p:nvSpPr>
        <p:spPr>
          <a:xfrm>
            <a:off x="2157984" y="4315968"/>
            <a:ext cx="204825" cy="182880"/>
          </a:xfrm>
          <a:prstGeom prst="rightArrow">
            <a:avLst/>
          </a:prstGeom>
          <a:solidFill>
            <a:srgbClr val="9AA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Rounded Rectangle 39"/>
          <p:cNvSpPr/>
          <p:nvPr/>
        </p:nvSpPr>
        <p:spPr>
          <a:xfrm>
            <a:off x="2371953" y="3794760"/>
            <a:ext cx="1691640" cy="1234440"/>
          </a:xfrm>
          <a:prstGeom prst="roundRect">
            <a:avLst>
              <a:gd name="adj" fmla="val 5000"/>
            </a:avLst>
          </a:prstGeom>
          <a:solidFill>
            <a:srgbClr val="FDEFC7"/>
          </a:solidFill>
          <a:ln w="12700">
            <a:solidFill>
              <a:srgbClr val="7835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2481681" y="3867912"/>
            <a:ext cx="1472184" cy="320040"/>
          </a:xfrm>
          <a:prstGeom prst="rect">
            <a:avLst/>
          </a:prstGeom>
          <a:noFill/>
        </p:spPr>
        <p:txBody>
          <a:bodyPr wrap="square" lIns="0" tIns="0" rIns="0" bIns="0" anchor="t">
            <a:spAutoFit/>
          </a:bodyPr>
          <a:lstStyle/>
          <a:p>
            <a:pPr algn="l"/>
            <a:r>
              <a:rPr sz="1500" b="1">
                <a:solidFill>
                  <a:srgbClr val="78350F"/>
                </a:solidFill>
                <a:latin typeface="Cambria"/>
              </a:rPr>
              <a:t>2 Classify</a:t>
            </a:r>
          </a:p>
        </p:txBody>
      </p:sp>
      <p:sp>
        <p:nvSpPr>
          <p:cNvPr id="42" name="TextBox 41"/>
          <p:cNvSpPr txBox="1"/>
          <p:nvPr/>
        </p:nvSpPr>
        <p:spPr>
          <a:xfrm>
            <a:off x="2481681" y="4206240"/>
            <a:ext cx="1472184" cy="777240"/>
          </a:xfrm>
          <a:prstGeom prst="rect">
            <a:avLst/>
          </a:prstGeom>
          <a:noFill/>
        </p:spPr>
        <p:txBody>
          <a:bodyPr wrap="square" lIns="0" tIns="0" rIns="0" bIns="0" anchor="t">
            <a:spAutoFit/>
          </a:bodyPr>
          <a:lstStyle/>
          <a:p>
            <a:pPr algn="l"/>
            <a:r>
              <a:rPr sz="1150" b="0">
                <a:solidFill>
                  <a:srgbClr val="1F2937"/>
                </a:solidFill>
                <a:latin typeface="Calibri"/>
              </a:rPr>
              <a:t>work type, service, urgency, impact (structured output)</a:t>
            </a:r>
          </a:p>
        </p:txBody>
      </p:sp>
      <p:sp>
        <p:nvSpPr>
          <p:cNvPr id="43" name="Right Arrow 42"/>
          <p:cNvSpPr/>
          <p:nvPr/>
        </p:nvSpPr>
        <p:spPr>
          <a:xfrm>
            <a:off x="4072737" y="4315968"/>
            <a:ext cx="204825" cy="182880"/>
          </a:xfrm>
          <a:prstGeom prst="rightArrow">
            <a:avLst/>
          </a:prstGeom>
          <a:solidFill>
            <a:srgbClr val="9AA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Rounded Rectangle 43"/>
          <p:cNvSpPr/>
          <p:nvPr/>
        </p:nvSpPr>
        <p:spPr>
          <a:xfrm>
            <a:off x="4286707" y="3794760"/>
            <a:ext cx="1691640" cy="1234440"/>
          </a:xfrm>
          <a:prstGeom prst="roundRect">
            <a:avLst>
              <a:gd name="adj" fmla="val 5000"/>
            </a:avLst>
          </a:prstGeom>
          <a:solidFill>
            <a:srgbClr val="DCE8FA"/>
          </a:solidFill>
          <a:ln w="12700">
            <a:solidFill>
              <a:srgbClr val="1E3A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4396435" y="3867912"/>
            <a:ext cx="1472184" cy="320040"/>
          </a:xfrm>
          <a:prstGeom prst="rect">
            <a:avLst/>
          </a:prstGeom>
          <a:noFill/>
        </p:spPr>
        <p:txBody>
          <a:bodyPr wrap="square" lIns="0" tIns="0" rIns="0" bIns="0" anchor="t">
            <a:spAutoFit/>
          </a:bodyPr>
          <a:lstStyle/>
          <a:p>
            <a:pPr algn="l"/>
            <a:r>
              <a:rPr sz="1500" b="1">
                <a:solidFill>
                  <a:srgbClr val="1E3A8A"/>
                </a:solidFill>
                <a:latin typeface="Cambria"/>
              </a:rPr>
              <a:t>3 Route</a:t>
            </a:r>
          </a:p>
        </p:txBody>
      </p:sp>
      <p:sp>
        <p:nvSpPr>
          <p:cNvPr id="46" name="TextBox 45"/>
          <p:cNvSpPr txBox="1"/>
          <p:nvPr/>
        </p:nvSpPr>
        <p:spPr>
          <a:xfrm>
            <a:off x="4396435" y="4206240"/>
            <a:ext cx="1472184" cy="777240"/>
          </a:xfrm>
          <a:prstGeom prst="rect">
            <a:avLst/>
          </a:prstGeom>
          <a:noFill/>
        </p:spPr>
        <p:txBody>
          <a:bodyPr wrap="square" lIns="0" tIns="0" rIns="0" bIns="0" anchor="t">
            <a:spAutoFit/>
          </a:bodyPr>
          <a:lstStyle/>
          <a:p>
            <a:pPr algn="l"/>
            <a:r>
              <a:rPr sz="1150" b="0">
                <a:solidFill>
                  <a:srgbClr val="1F2937"/>
                </a:solidFill>
                <a:latin typeface="Calibri"/>
              </a:rPr>
              <a:t>team by statistics, assignee = fewest tickets</a:t>
            </a:r>
          </a:p>
        </p:txBody>
      </p:sp>
      <p:sp>
        <p:nvSpPr>
          <p:cNvPr id="47" name="Right Arrow 46"/>
          <p:cNvSpPr/>
          <p:nvPr/>
        </p:nvSpPr>
        <p:spPr>
          <a:xfrm>
            <a:off x="5987491" y="4315968"/>
            <a:ext cx="204825" cy="182880"/>
          </a:xfrm>
          <a:prstGeom prst="rightArrow">
            <a:avLst/>
          </a:prstGeom>
          <a:solidFill>
            <a:srgbClr val="9AA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Rounded Rectangle 47"/>
          <p:cNvSpPr/>
          <p:nvPr/>
        </p:nvSpPr>
        <p:spPr>
          <a:xfrm>
            <a:off x="6201460" y="3794760"/>
            <a:ext cx="1691640" cy="1234440"/>
          </a:xfrm>
          <a:prstGeom prst="roundRect">
            <a:avLst>
              <a:gd name="adj" fmla="val 5000"/>
            </a:avLst>
          </a:prstGeom>
          <a:solidFill>
            <a:srgbClr val="DCE8FA"/>
          </a:solidFill>
          <a:ln w="12700">
            <a:solidFill>
              <a:srgbClr val="1E3A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6311188" y="3867912"/>
            <a:ext cx="1472184" cy="320040"/>
          </a:xfrm>
          <a:prstGeom prst="rect">
            <a:avLst/>
          </a:prstGeom>
          <a:noFill/>
        </p:spPr>
        <p:txBody>
          <a:bodyPr wrap="square" lIns="0" tIns="0" rIns="0" bIns="0" anchor="t">
            <a:spAutoFit/>
          </a:bodyPr>
          <a:lstStyle/>
          <a:p>
            <a:pPr algn="l"/>
            <a:r>
              <a:rPr sz="1500" b="1">
                <a:solidFill>
                  <a:srgbClr val="1E3A8A"/>
                </a:solidFill>
                <a:latin typeface="Cambria"/>
              </a:rPr>
              <a:t>4 Prioritize</a:t>
            </a:r>
          </a:p>
        </p:txBody>
      </p:sp>
      <p:sp>
        <p:nvSpPr>
          <p:cNvPr id="50" name="TextBox 49"/>
          <p:cNvSpPr txBox="1"/>
          <p:nvPr/>
        </p:nvSpPr>
        <p:spPr>
          <a:xfrm>
            <a:off x="6311188" y="4206240"/>
            <a:ext cx="1472184" cy="777240"/>
          </a:xfrm>
          <a:prstGeom prst="rect">
            <a:avLst/>
          </a:prstGeom>
          <a:noFill/>
        </p:spPr>
        <p:txBody>
          <a:bodyPr wrap="square" lIns="0" tIns="0" rIns="0" bIns="0" anchor="t">
            <a:spAutoFit/>
          </a:bodyPr>
          <a:lstStyle/>
          <a:p>
            <a:pPr algn="l"/>
            <a:r>
              <a:rPr sz="1150" b="0">
                <a:solidFill>
                  <a:srgbClr val="1F2937"/>
                </a:solidFill>
                <a:latin typeface="Calibri"/>
              </a:rPr>
              <a:t>PriorityMatrix(urgency, impact)</a:t>
            </a:r>
          </a:p>
        </p:txBody>
      </p:sp>
      <p:sp>
        <p:nvSpPr>
          <p:cNvPr id="51" name="Right Arrow 50"/>
          <p:cNvSpPr/>
          <p:nvPr/>
        </p:nvSpPr>
        <p:spPr>
          <a:xfrm>
            <a:off x="7902244" y="4315968"/>
            <a:ext cx="204825" cy="182880"/>
          </a:xfrm>
          <a:prstGeom prst="rightArrow">
            <a:avLst/>
          </a:prstGeom>
          <a:solidFill>
            <a:srgbClr val="9AA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Rounded Rectangle 51"/>
          <p:cNvSpPr/>
          <p:nvPr/>
        </p:nvSpPr>
        <p:spPr>
          <a:xfrm>
            <a:off x="8116214" y="3794760"/>
            <a:ext cx="1691640" cy="1234440"/>
          </a:xfrm>
          <a:prstGeom prst="roundRect">
            <a:avLst>
              <a:gd name="adj" fmla="val 5000"/>
            </a:avLst>
          </a:prstGeom>
          <a:solidFill>
            <a:srgbClr val="FDEFC7"/>
          </a:solidFill>
          <a:ln w="12700">
            <a:solidFill>
              <a:srgbClr val="7835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8225942" y="3867912"/>
            <a:ext cx="1472184" cy="320040"/>
          </a:xfrm>
          <a:prstGeom prst="rect">
            <a:avLst/>
          </a:prstGeom>
          <a:noFill/>
        </p:spPr>
        <p:txBody>
          <a:bodyPr wrap="square" lIns="0" tIns="0" rIns="0" bIns="0" anchor="t">
            <a:spAutoFit/>
          </a:bodyPr>
          <a:lstStyle/>
          <a:p>
            <a:pPr algn="l"/>
            <a:r>
              <a:rPr sz="1500" b="1">
                <a:solidFill>
                  <a:srgbClr val="78350F"/>
                </a:solidFill>
                <a:latin typeface="Cambria"/>
              </a:rPr>
              <a:t>5 Draft</a:t>
            </a:r>
          </a:p>
        </p:txBody>
      </p:sp>
      <p:sp>
        <p:nvSpPr>
          <p:cNvPr id="54" name="TextBox 53"/>
          <p:cNvSpPr txBox="1"/>
          <p:nvPr/>
        </p:nvSpPr>
        <p:spPr>
          <a:xfrm>
            <a:off x="8225942" y="4206240"/>
            <a:ext cx="1472184" cy="777240"/>
          </a:xfrm>
          <a:prstGeom prst="rect">
            <a:avLst/>
          </a:prstGeom>
          <a:noFill/>
        </p:spPr>
        <p:txBody>
          <a:bodyPr wrap="square" lIns="0" tIns="0" rIns="0" bIns="0" anchor="t">
            <a:spAutoFit/>
          </a:bodyPr>
          <a:lstStyle/>
          <a:p>
            <a:pPr algn="l"/>
            <a:r>
              <a:rPr sz="1150" b="0">
                <a:solidFill>
                  <a:srgbClr val="1F2937"/>
                </a:solidFill>
                <a:latin typeface="Calibri"/>
              </a:rPr>
              <a:t>resolution status and comment</a:t>
            </a:r>
          </a:p>
        </p:txBody>
      </p:sp>
      <p:sp>
        <p:nvSpPr>
          <p:cNvPr id="55" name="Right Arrow 54"/>
          <p:cNvSpPr/>
          <p:nvPr/>
        </p:nvSpPr>
        <p:spPr>
          <a:xfrm>
            <a:off x="9816998" y="4315968"/>
            <a:ext cx="204825" cy="182880"/>
          </a:xfrm>
          <a:prstGeom prst="rightArrow">
            <a:avLst/>
          </a:prstGeom>
          <a:solidFill>
            <a:srgbClr val="9AA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Rounded Rectangle 55"/>
          <p:cNvSpPr/>
          <p:nvPr/>
        </p:nvSpPr>
        <p:spPr>
          <a:xfrm>
            <a:off x="10030968" y="3794760"/>
            <a:ext cx="1691640" cy="1234440"/>
          </a:xfrm>
          <a:prstGeom prst="roundRect">
            <a:avLst>
              <a:gd name="adj" fmla="val 5000"/>
            </a:avLst>
          </a:prstGeom>
          <a:solidFill>
            <a:srgbClr val="DCE8FA"/>
          </a:solidFill>
          <a:ln w="12700">
            <a:solidFill>
              <a:srgbClr val="1E3A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10140696" y="3867912"/>
            <a:ext cx="1472184" cy="320040"/>
          </a:xfrm>
          <a:prstGeom prst="rect">
            <a:avLst/>
          </a:prstGeom>
          <a:noFill/>
        </p:spPr>
        <p:txBody>
          <a:bodyPr wrap="square" lIns="0" tIns="0" rIns="0" bIns="0" anchor="t">
            <a:spAutoFit/>
          </a:bodyPr>
          <a:lstStyle/>
          <a:p>
            <a:pPr algn="l"/>
            <a:r>
              <a:rPr sz="1500" b="1">
                <a:solidFill>
                  <a:srgbClr val="1E3A8A"/>
                </a:solidFill>
                <a:latin typeface="Cambria"/>
              </a:rPr>
              <a:t>6 Validate</a:t>
            </a:r>
          </a:p>
        </p:txBody>
      </p:sp>
      <p:sp>
        <p:nvSpPr>
          <p:cNvPr id="58" name="TextBox 57"/>
          <p:cNvSpPr txBox="1"/>
          <p:nvPr/>
        </p:nvSpPr>
        <p:spPr>
          <a:xfrm>
            <a:off x="10140696" y="4206240"/>
            <a:ext cx="1472184" cy="777240"/>
          </a:xfrm>
          <a:prstGeom prst="rect">
            <a:avLst/>
          </a:prstGeom>
          <a:noFill/>
        </p:spPr>
        <p:txBody>
          <a:bodyPr wrap="square" lIns="0" tIns="0" rIns="0" bIns="0" anchor="t">
            <a:spAutoFit/>
          </a:bodyPr>
          <a:lstStyle/>
          <a:p>
            <a:pPr algn="l"/>
            <a:r>
              <a:rPr sz="1150" b="0">
                <a:solidFill>
                  <a:srgbClr val="1F2937"/>
                </a:solidFill>
                <a:latin typeface="Calibri"/>
              </a:rPr>
              <a:t>all 7 fields, retry, fallback, failure log</a:t>
            </a:r>
          </a:p>
        </p:txBody>
      </p:sp>
      <p:sp>
        <p:nvSpPr>
          <p:cNvPr id="59" name="TextBox 58"/>
          <p:cNvSpPr txBox="1"/>
          <p:nvPr/>
        </p:nvSpPr>
        <p:spPr>
          <a:xfrm>
            <a:off x="457200" y="5303520"/>
            <a:ext cx="7315200" cy="274320"/>
          </a:xfrm>
          <a:prstGeom prst="rect">
            <a:avLst/>
          </a:prstGeom>
          <a:noFill/>
        </p:spPr>
        <p:txBody>
          <a:bodyPr wrap="square" lIns="0" tIns="0" rIns="0" bIns="0" anchor="t">
            <a:spAutoFit/>
          </a:bodyPr>
          <a:lstStyle/>
          <a:p>
            <a:pPr algn="l"/>
            <a:r>
              <a:rPr sz="1100" b="1">
                <a:solidFill>
                  <a:srgbClr val="6B7280"/>
                </a:solidFill>
                <a:latin typeface="Calibri"/>
              </a:rPr>
              <a:t>LAYERS: DEPENDENCIES ONLY POINT INWARD</a:t>
            </a:r>
          </a:p>
        </p:txBody>
      </p:sp>
      <p:sp>
        <p:nvSpPr>
          <p:cNvPr id="60" name="Rounded Rectangle 59"/>
          <p:cNvSpPr/>
          <p:nvPr/>
        </p:nvSpPr>
        <p:spPr>
          <a:xfrm>
            <a:off x="457200" y="5577840"/>
            <a:ext cx="2606040" cy="777240"/>
          </a:xfrm>
          <a:prstGeom prst="roundRect">
            <a:avLst>
              <a:gd name="adj" fmla="val 5000"/>
            </a:avLst>
          </a:prstGeom>
          <a:solidFill>
            <a:srgbClr val="F3F5F9"/>
          </a:solidFill>
          <a:ln w="12700">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p:cNvSpPr txBox="1"/>
          <p:nvPr/>
        </p:nvSpPr>
        <p:spPr>
          <a:xfrm>
            <a:off x="566928" y="5623560"/>
            <a:ext cx="2386584" cy="274320"/>
          </a:xfrm>
          <a:prstGeom prst="rect">
            <a:avLst/>
          </a:prstGeom>
          <a:noFill/>
        </p:spPr>
        <p:txBody>
          <a:bodyPr wrap="square" lIns="0" tIns="0" rIns="0" bIns="0" anchor="t">
            <a:spAutoFit/>
          </a:bodyPr>
          <a:lstStyle/>
          <a:p>
            <a:pPr algn="l"/>
            <a:r>
              <a:rPr sz="1400" b="1">
                <a:solidFill>
                  <a:srgbClr val="1B2A49"/>
                </a:solidFill>
                <a:latin typeface="Cambria"/>
              </a:rPr>
              <a:t>Core</a:t>
            </a:r>
          </a:p>
        </p:txBody>
      </p:sp>
      <p:sp>
        <p:nvSpPr>
          <p:cNvPr id="62" name="TextBox 61"/>
          <p:cNvSpPr txBox="1"/>
          <p:nvPr/>
        </p:nvSpPr>
        <p:spPr>
          <a:xfrm>
            <a:off x="566928" y="5916168"/>
            <a:ext cx="2386584" cy="411480"/>
          </a:xfrm>
          <a:prstGeom prst="rect">
            <a:avLst/>
          </a:prstGeom>
          <a:noFill/>
        </p:spPr>
        <p:txBody>
          <a:bodyPr wrap="square" lIns="0" tIns="0" rIns="0" bIns="0" anchor="t">
            <a:spAutoFit/>
          </a:bodyPr>
          <a:lstStyle/>
          <a:p>
            <a:pPr algn="l"/>
            <a:r>
              <a:rPr sz="1100" b="0">
                <a:solidFill>
                  <a:srgbClr val="1F2937"/>
                </a:solidFill>
                <a:latin typeface="Calibri"/>
              </a:rPr>
              <a:t>domain and pipeline ports, no references</a:t>
            </a:r>
          </a:p>
        </p:txBody>
      </p:sp>
      <p:sp>
        <p:nvSpPr>
          <p:cNvPr id="63" name="Left Arrow 62"/>
          <p:cNvSpPr/>
          <p:nvPr/>
        </p:nvSpPr>
        <p:spPr>
          <a:xfrm>
            <a:off x="3090672" y="5879592"/>
            <a:ext cx="219456" cy="182880"/>
          </a:xfrm>
          <a:prstGeom prst="leftArrow">
            <a:avLst/>
          </a:prstGeom>
          <a:solidFill>
            <a:srgbClr val="9AA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Rounded Rectangle 63"/>
          <p:cNvSpPr/>
          <p:nvPr/>
        </p:nvSpPr>
        <p:spPr>
          <a:xfrm>
            <a:off x="3337560" y="5577840"/>
            <a:ext cx="2606040" cy="777240"/>
          </a:xfrm>
          <a:prstGeom prst="roundRect">
            <a:avLst>
              <a:gd name="adj" fmla="val 5000"/>
            </a:avLst>
          </a:prstGeom>
          <a:solidFill>
            <a:srgbClr val="F3F5F9"/>
          </a:solidFill>
          <a:ln w="12700">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3447288" y="5623560"/>
            <a:ext cx="2386584" cy="274320"/>
          </a:xfrm>
          <a:prstGeom prst="rect">
            <a:avLst/>
          </a:prstGeom>
          <a:noFill/>
        </p:spPr>
        <p:txBody>
          <a:bodyPr wrap="square" lIns="0" tIns="0" rIns="0" bIns="0" anchor="t">
            <a:spAutoFit/>
          </a:bodyPr>
          <a:lstStyle/>
          <a:p>
            <a:pPr algn="l"/>
            <a:r>
              <a:rPr sz="1400" b="1">
                <a:solidFill>
                  <a:srgbClr val="1B2A49"/>
                </a:solidFill>
                <a:latin typeface="Cambria"/>
              </a:rPr>
              <a:t>Infrastructure</a:t>
            </a:r>
          </a:p>
        </p:txBody>
      </p:sp>
      <p:sp>
        <p:nvSpPr>
          <p:cNvPr id="66" name="TextBox 65"/>
          <p:cNvSpPr txBox="1"/>
          <p:nvPr/>
        </p:nvSpPr>
        <p:spPr>
          <a:xfrm>
            <a:off x="3447288" y="5916168"/>
            <a:ext cx="2386584" cy="411480"/>
          </a:xfrm>
          <a:prstGeom prst="rect">
            <a:avLst/>
          </a:prstGeom>
          <a:noFill/>
        </p:spPr>
        <p:txBody>
          <a:bodyPr wrap="square" lIns="0" tIns="0" rIns="0" bIns="0" anchor="t">
            <a:spAutoFit/>
          </a:bodyPr>
          <a:lstStyle/>
          <a:p>
            <a:pPr algn="l"/>
            <a:r>
              <a:rPr sz="1100" b="0">
                <a:solidFill>
                  <a:srgbClr val="1F2937"/>
                </a:solidFill>
                <a:latin typeface="Calibri"/>
              </a:rPr>
              <a:t>SQLite, pipeline, retrieval, routing</a:t>
            </a:r>
          </a:p>
        </p:txBody>
      </p:sp>
      <p:sp>
        <p:nvSpPr>
          <p:cNvPr id="67" name="Left Arrow 66"/>
          <p:cNvSpPr/>
          <p:nvPr/>
        </p:nvSpPr>
        <p:spPr>
          <a:xfrm>
            <a:off x="5971032" y="5879592"/>
            <a:ext cx="219456" cy="182880"/>
          </a:xfrm>
          <a:prstGeom prst="leftArrow">
            <a:avLst/>
          </a:prstGeom>
          <a:solidFill>
            <a:srgbClr val="9AA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Rounded Rectangle 67"/>
          <p:cNvSpPr/>
          <p:nvPr/>
        </p:nvSpPr>
        <p:spPr>
          <a:xfrm>
            <a:off x="6217920" y="5577840"/>
            <a:ext cx="2606040" cy="777240"/>
          </a:xfrm>
          <a:prstGeom prst="roundRect">
            <a:avLst>
              <a:gd name="adj" fmla="val 5000"/>
            </a:avLst>
          </a:prstGeom>
          <a:solidFill>
            <a:srgbClr val="F3F5F9"/>
          </a:solidFill>
          <a:ln w="12700">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TextBox 68"/>
          <p:cNvSpPr txBox="1"/>
          <p:nvPr/>
        </p:nvSpPr>
        <p:spPr>
          <a:xfrm>
            <a:off x="6327648" y="5623560"/>
            <a:ext cx="2386584" cy="274320"/>
          </a:xfrm>
          <a:prstGeom prst="rect">
            <a:avLst/>
          </a:prstGeom>
          <a:noFill/>
        </p:spPr>
        <p:txBody>
          <a:bodyPr wrap="square" lIns="0" tIns="0" rIns="0" bIns="0" anchor="t">
            <a:spAutoFit/>
          </a:bodyPr>
          <a:lstStyle/>
          <a:p>
            <a:pPr algn="l"/>
            <a:r>
              <a:rPr sz="1400" b="1">
                <a:solidFill>
                  <a:srgbClr val="1B2A49"/>
                </a:solidFill>
                <a:latin typeface="Cambria"/>
              </a:rPr>
              <a:t>Agents</a:t>
            </a:r>
          </a:p>
        </p:txBody>
      </p:sp>
      <p:sp>
        <p:nvSpPr>
          <p:cNvPr id="70" name="TextBox 69"/>
          <p:cNvSpPr txBox="1"/>
          <p:nvPr/>
        </p:nvSpPr>
        <p:spPr>
          <a:xfrm>
            <a:off x="6327648" y="5916168"/>
            <a:ext cx="2386584" cy="411480"/>
          </a:xfrm>
          <a:prstGeom prst="rect">
            <a:avLst/>
          </a:prstGeom>
          <a:noFill/>
        </p:spPr>
        <p:txBody>
          <a:bodyPr wrap="square" lIns="0" tIns="0" rIns="0" bIns="0" anchor="t">
            <a:spAutoFit/>
          </a:bodyPr>
          <a:lstStyle/>
          <a:p>
            <a:pPr algn="l"/>
            <a:r>
              <a:rPr sz="1100" b="0">
                <a:solidFill>
                  <a:srgbClr val="1F2937"/>
                </a:solidFill>
                <a:latin typeface="Calibri"/>
              </a:rPr>
              <a:t>LLM classifier and drafter (Agent Framework)</a:t>
            </a:r>
          </a:p>
        </p:txBody>
      </p:sp>
      <p:sp>
        <p:nvSpPr>
          <p:cNvPr id="71" name="Left Arrow 70"/>
          <p:cNvSpPr/>
          <p:nvPr/>
        </p:nvSpPr>
        <p:spPr>
          <a:xfrm>
            <a:off x="8851392" y="5879592"/>
            <a:ext cx="219456" cy="182880"/>
          </a:xfrm>
          <a:prstGeom prst="leftArrow">
            <a:avLst/>
          </a:prstGeom>
          <a:solidFill>
            <a:srgbClr val="9AA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Rounded Rectangle 71"/>
          <p:cNvSpPr/>
          <p:nvPr/>
        </p:nvSpPr>
        <p:spPr>
          <a:xfrm>
            <a:off x="9098280" y="5577840"/>
            <a:ext cx="2606040" cy="777240"/>
          </a:xfrm>
          <a:prstGeom prst="roundRect">
            <a:avLst>
              <a:gd name="adj" fmla="val 5000"/>
            </a:avLst>
          </a:prstGeom>
          <a:solidFill>
            <a:srgbClr val="F3F5F9"/>
          </a:solidFill>
          <a:ln w="12700">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TextBox 72"/>
          <p:cNvSpPr txBox="1"/>
          <p:nvPr/>
        </p:nvSpPr>
        <p:spPr>
          <a:xfrm>
            <a:off x="9208007" y="5623560"/>
            <a:ext cx="2386584" cy="274320"/>
          </a:xfrm>
          <a:prstGeom prst="rect">
            <a:avLst/>
          </a:prstGeom>
          <a:noFill/>
        </p:spPr>
        <p:txBody>
          <a:bodyPr wrap="square" lIns="0" tIns="0" rIns="0" bIns="0" anchor="t">
            <a:spAutoFit/>
          </a:bodyPr>
          <a:lstStyle/>
          <a:p>
            <a:pPr algn="l"/>
            <a:r>
              <a:rPr sz="1400" b="1">
                <a:solidFill>
                  <a:srgbClr val="1B2A49"/>
                </a:solidFill>
                <a:latin typeface="Cambria"/>
              </a:rPr>
              <a:t>Web · Batch</a:t>
            </a:r>
          </a:p>
        </p:txBody>
      </p:sp>
      <p:sp>
        <p:nvSpPr>
          <p:cNvPr id="74" name="TextBox 73"/>
          <p:cNvSpPr txBox="1"/>
          <p:nvPr/>
        </p:nvSpPr>
        <p:spPr>
          <a:xfrm>
            <a:off x="9208007" y="5916168"/>
            <a:ext cx="2386584" cy="411480"/>
          </a:xfrm>
          <a:prstGeom prst="rect">
            <a:avLst/>
          </a:prstGeom>
          <a:noFill/>
        </p:spPr>
        <p:txBody>
          <a:bodyPr wrap="square" lIns="0" tIns="0" rIns="0" bIns="0" anchor="t">
            <a:spAutoFit/>
          </a:bodyPr>
          <a:lstStyle/>
          <a:p>
            <a:pPr algn="l"/>
            <a:r>
              <a:rPr sz="1100" b="0">
                <a:solidFill>
                  <a:srgbClr val="1F2937"/>
                </a:solidFill>
                <a:latin typeface="Calibri"/>
              </a:rPr>
              <a:t>Blazor UI and challenge export</a:t>
            </a:r>
          </a:p>
        </p:txBody>
      </p:sp>
      <p:sp>
        <p:nvSpPr>
          <p:cNvPr id="75" name="TextBox 74"/>
          <p:cNvSpPr txBox="1"/>
          <p:nvPr/>
        </p:nvSpPr>
        <p:spPr>
          <a:xfrm>
            <a:off x="457200" y="6510528"/>
            <a:ext cx="8229600" cy="228600"/>
          </a:xfrm>
          <a:prstGeom prst="rect">
            <a:avLst/>
          </a:prstGeom>
          <a:noFill/>
        </p:spPr>
        <p:txBody>
          <a:bodyPr wrap="square" lIns="0" tIns="0" rIns="0" bIns="0" anchor="t">
            <a:spAutoFit/>
          </a:bodyPr>
          <a:lstStyle/>
          <a:p>
            <a:pPr algn="l"/>
            <a:r>
              <a:rPr sz="1000" b="0">
                <a:solidFill>
                  <a:srgbClr val="6B7280"/>
                </a:solidFill>
                <a:latin typeface="Calibri"/>
              </a:rPr>
              <a:t>TicketTriage  ·  Swiss {ai} Weeks  ·  Architecture (docs/architecture.md, ADR-0001, ADR-0002)</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val 1"/>
          <p:cNvSpPr/>
          <p:nvPr/>
        </p:nvSpPr>
        <p:spPr>
          <a:xfrm>
            <a:off x="457200" y="384048"/>
            <a:ext cx="566928" cy="566928"/>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200" b="1">
                <a:solidFill>
                  <a:srgbClr val="FFFFFF"/>
                </a:solidFill>
                <a:latin typeface="Cambria"/>
              </a:rPr>
              <a:t>4</a:t>
            </a:r>
          </a:p>
        </p:txBody>
      </p:sp>
      <p:sp>
        <p:nvSpPr>
          <p:cNvPr id="3" name="TextBox 2"/>
          <p:cNvSpPr txBox="1"/>
          <p:nvPr/>
        </p:nvSpPr>
        <p:spPr>
          <a:xfrm>
            <a:off x="1234440" y="274320"/>
            <a:ext cx="10515600" cy="548640"/>
          </a:xfrm>
          <a:prstGeom prst="rect">
            <a:avLst/>
          </a:prstGeom>
          <a:noFill/>
        </p:spPr>
        <p:txBody>
          <a:bodyPr wrap="square" lIns="0" tIns="0" rIns="0" bIns="0" anchor="ctr">
            <a:spAutoFit/>
          </a:bodyPr>
          <a:lstStyle/>
          <a:p>
            <a:pPr algn="l"/>
            <a:r>
              <a:rPr sz="3000" b="1">
                <a:solidFill>
                  <a:srgbClr val="1B2A49"/>
                </a:solidFill>
                <a:latin typeface="Cambria"/>
              </a:rPr>
              <a:t>Solution: code decides, LLM reads, analyst approves</a:t>
            </a:r>
          </a:p>
        </p:txBody>
      </p:sp>
      <p:sp>
        <p:nvSpPr>
          <p:cNvPr id="4" name="TextBox 3"/>
          <p:cNvSpPr txBox="1"/>
          <p:nvPr/>
        </p:nvSpPr>
        <p:spPr>
          <a:xfrm>
            <a:off x="1234440" y="841248"/>
            <a:ext cx="10515600" cy="365760"/>
          </a:xfrm>
          <a:prstGeom prst="rect">
            <a:avLst/>
          </a:prstGeom>
          <a:noFill/>
        </p:spPr>
        <p:txBody>
          <a:bodyPr wrap="square" lIns="0" tIns="0" rIns="0" bIns="0" anchor="t">
            <a:spAutoFit/>
          </a:bodyPr>
          <a:lstStyle/>
          <a:p>
            <a:pPr algn="l"/>
            <a:r>
              <a:rPr sz="1400" b="0">
                <a:solidFill>
                  <a:srgbClr val="6B7280"/>
                </a:solidFill>
                <a:latin typeface="Calibri"/>
              </a:rPr>
              <a:t>Every field has exactly one owner, and every suggestion is reviewed by a person</a:t>
            </a:r>
          </a:p>
        </p:txBody>
      </p:sp>
      <p:graphicFrame>
        <p:nvGraphicFramePr>
          <p:cNvPr id="5" name="Table 4"/>
          <p:cNvGraphicFramePr>
            <a:graphicFrameLocks noGrp="1"/>
          </p:cNvGraphicFramePr>
          <p:nvPr/>
        </p:nvGraphicFramePr>
        <p:xfrm>
          <a:off x="457200" y="1463040"/>
          <a:ext cx="6126479" cy="3218688"/>
        </p:xfrm>
        <a:graphic>
          <a:graphicData uri="http://schemas.openxmlformats.org/drawingml/2006/table">
            <a:tbl>
              <a:tblPr firstRow="1" bandRow="1">
                <a:tableStyleId>{5C22544A-7EE6-4342-B048-85BDC9FD1C3A}</a:tableStyleId>
              </a:tblPr>
              <a:tblGrid>
                <a:gridCol w="1874519">
                  <a:extLst>
                    <a:ext uri="{9D8B030D-6E8A-4147-A177-3AD203B41FA5}">
                      <a16:colId xmlns:a16="http://schemas.microsoft.com/office/drawing/2014/main" val="20000"/>
                    </a:ext>
                  </a:extLst>
                </a:gridCol>
                <a:gridCol w="960120">
                  <a:extLst>
                    <a:ext uri="{9D8B030D-6E8A-4147-A177-3AD203B41FA5}">
                      <a16:colId xmlns:a16="http://schemas.microsoft.com/office/drawing/2014/main" val="20001"/>
                    </a:ext>
                  </a:extLst>
                </a:gridCol>
                <a:gridCol w="3291840">
                  <a:extLst>
                    <a:ext uri="{9D8B030D-6E8A-4147-A177-3AD203B41FA5}">
                      <a16:colId xmlns:a16="http://schemas.microsoft.com/office/drawing/2014/main" val="20002"/>
                    </a:ext>
                  </a:extLst>
                </a:gridCol>
              </a:tblGrid>
              <a:tr h="402336">
                <a:tc>
                  <a:txBody>
                    <a:bodyPr/>
                    <a:lstStyle/>
                    <a:p>
                      <a:r>
                        <a:rPr sz="1200" b="1">
                          <a:solidFill>
                            <a:srgbClr val="FFFFFF"/>
                          </a:solidFill>
                          <a:latin typeface="Calibri"/>
                        </a:rPr>
                        <a:t>Field</a:t>
                      </a:r>
                    </a:p>
                  </a:txBody>
                  <a:tcPr marT="27432" marB="27432" anchor="ctr">
                    <a:solidFill>
                      <a:srgbClr val="1B2A49"/>
                    </a:solidFill>
                  </a:tcPr>
                </a:tc>
                <a:tc>
                  <a:txBody>
                    <a:bodyPr/>
                    <a:lstStyle/>
                    <a:p>
                      <a:r>
                        <a:rPr sz="1200" b="1">
                          <a:solidFill>
                            <a:srgbClr val="FFFFFF"/>
                          </a:solidFill>
                          <a:latin typeface="Calibri"/>
                        </a:rPr>
                        <a:t>Decided by</a:t>
                      </a:r>
                    </a:p>
                  </a:txBody>
                  <a:tcPr marT="27432" marB="27432" anchor="ctr">
                    <a:solidFill>
                      <a:srgbClr val="1B2A49"/>
                    </a:solidFill>
                  </a:tcPr>
                </a:tc>
                <a:tc>
                  <a:txBody>
                    <a:bodyPr/>
                    <a:lstStyle/>
                    <a:p>
                      <a:r>
                        <a:rPr sz="1200" b="1">
                          <a:solidFill>
                            <a:srgbClr val="FFFFFF"/>
                          </a:solidFill>
                          <a:latin typeface="Calibri"/>
                        </a:rPr>
                        <a:t>How</a:t>
                      </a:r>
                    </a:p>
                  </a:txBody>
                  <a:tcPr marT="27432" marB="27432" anchor="ctr">
                    <a:solidFill>
                      <a:srgbClr val="1B2A49"/>
                    </a:solidFill>
                  </a:tcPr>
                </a:tc>
                <a:extLst>
                  <a:ext uri="{0D108BD9-81ED-4DB2-BD59-A6C34878D82A}">
                    <a16:rowId xmlns:a16="http://schemas.microsoft.com/office/drawing/2014/main" val="10000"/>
                  </a:ext>
                </a:extLst>
              </a:tr>
              <a:tr h="402336">
                <a:tc>
                  <a:txBody>
                    <a:bodyPr/>
                    <a:lstStyle/>
                    <a:p>
                      <a:r>
                        <a:rPr sz="1200" b="0">
                          <a:solidFill>
                            <a:srgbClr val="1F2937"/>
                          </a:solidFill>
                          <a:latin typeface="Calibri"/>
                        </a:rPr>
                        <a:t>Work type</a:t>
                      </a:r>
                    </a:p>
                  </a:txBody>
                  <a:tcPr marT="27432" marB="27432" anchor="ctr">
                    <a:solidFill>
                      <a:srgbClr val="FFFFFF"/>
                    </a:solidFill>
                  </a:tcPr>
                </a:tc>
                <a:tc>
                  <a:txBody>
                    <a:bodyPr/>
                    <a:lstStyle/>
                    <a:p>
                      <a:r>
                        <a:rPr sz="1200" b="1">
                          <a:solidFill>
                            <a:srgbClr val="78350F"/>
                          </a:solidFill>
                          <a:latin typeface="Calibri"/>
                        </a:rPr>
                        <a:t>LLM</a:t>
                      </a:r>
                    </a:p>
                  </a:txBody>
                  <a:tcPr marT="27432" marB="27432" anchor="ctr">
                    <a:solidFill>
                      <a:srgbClr val="FFFFFF"/>
                    </a:solidFill>
                  </a:tcPr>
                </a:tc>
                <a:tc>
                  <a:txBody>
                    <a:bodyPr/>
                    <a:lstStyle/>
                    <a:p>
                      <a:r>
                        <a:rPr sz="1200" b="0">
                          <a:solidFill>
                            <a:srgbClr val="1F2937"/>
                          </a:solidFill>
                          <a:latin typeface="Calibri"/>
                        </a:rPr>
                        <a:t>structured output, checked against the vocabulary</a:t>
                      </a:r>
                    </a:p>
                  </a:txBody>
                  <a:tcPr marT="27432" marB="27432" anchor="ctr">
                    <a:solidFill>
                      <a:srgbClr val="FFFFFF"/>
                    </a:solidFill>
                  </a:tcPr>
                </a:tc>
                <a:extLst>
                  <a:ext uri="{0D108BD9-81ED-4DB2-BD59-A6C34878D82A}">
                    <a16:rowId xmlns:a16="http://schemas.microsoft.com/office/drawing/2014/main" val="10001"/>
                  </a:ext>
                </a:extLst>
              </a:tr>
              <a:tr h="402336">
                <a:tc>
                  <a:txBody>
                    <a:bodyPr/>
                    <a:lstStyle/>
                    <a:p>
                      <a:r>
                        <a:rPr sz="1200" b="0">
                          <a:solidFill>
                            <a:srgbClr val="1F2937"/>
                          </a:solidFill>
                          <a:latin typeface="Calibri"/>
                        </a:rPr>
                        <a:t>Affected service</a:t>
                      </a:r>
                    </a:p>
                  </a:txBody>
                  <a:tcPr marT="27432" marB="27432" anchor="ctr">
                    <a:solidFill>
                      <a:srgbClr val="F3F5F9"/>
                    </a:solidFill>
                  </a:tcPr>
                </a:tc>
                <a:tc>
                  <a:txBody>
                    <a:bodyPr/>
                    <a:lstStyle/>
                    <a:p>
                      <a:r>
                        <a:rPr sz="1200" b="1">
                          <a:solidFill>
                            <a:srgbClr val="78350F"/>
                          </a:solidFill>
                          <a:latin typeface="Calibri"/>
                        </a:rPr>
                        <a:t>LLM</a:t>
                      </a:r>
                    </a:p>
                  </a:txBody>
                  <a:tcPr marT="27432" marB="27432" anchor="ctr">
                    <a:solidFill>
                      <a:srgbClr val="F3F5F9"/>
                    </a:solidFill>
                  </a:tcPr>
                </a:tc>
                <a:tc>
                  <a:txBody>
                    <a:bodyPr/>
                    <a:lstStyle/>
                    <a:p>
                      <a:r>
                        <a:rPr sz="1200" b="0">
                          <a:solidFill>
                            <a:srgbClr val="1F2937"/>
                          </a:solidFill>
                          <a:latin typeface="Calibri"/>
                        </a:rPr>
                        <a:t>picked from the 20 real service names</a:t>
                      </a:r>
                    </a:p>
                  </a:txBody>
                  <a:tcPr marT="27432" marB="27432" anchor="ctr">
                    <a:solidFill>
                      <a:srgbClr val="F3F5F9"/>
                    </a:solidFill>
                  </a:tcPr>
                </a:tc>
                <a:extLst>
                  <a:ext uri="{0D108BD9-81ED-4DB2-BD59-A6C34878D82A}">
                    <a16:rowId xmlns:a16="http://schemas.microsoft.com/office/drawing/2014/main" val="10002"/>
                  </a:ext>
                </a:extLst>
              </a:tr>
              <a:tr h="402336">
                <a:tc>
                  <a:txBody>
                    <a:bodyPr/>
                    <a:lstStyle/>
                    <a:p>
                      <a:r>
                        <a:rPr sz="1200" b="0">
                          <a:solidFill>
                            <a:srgbClr val="1F2937"/>
                          </a:solidFill>
                          <a:latin typeface="Calibri"/>
                        </a:rPr>
                        <a:t>Service team</a:t>
                      </a:r>
                    </a:p>
                  </a:txBody>
                  <a:tcPr marT="27432" marB="27432" anchor="ctr">
                    <a:solidFill>
                      <a:srgbClr val="FFFFFF"/>
                    </a:solidFill>
                  </a:tcPr>
                </a:tc>
                <a:tc>
                  <a:txBody>
                    <a:bodyPr/>
                    <a:lstStyle/>
                    <a:p>
                      <a:r>
                        <a:rPr sz="1200" b="1">
                          <a:solidFill>
                            <a:srgbClr val="1E3A8A"/>
                          </a:solidFill>
                          <a:latin typeface="Calibri"/>
                        </a:rPr>
                        <a:t>Code</a:t>
                      </a:r>
                    </a:p>
                  </a:txBody>
                  <a:tcPr marT="27432" marB="27432" anchor="ctr">
                    <a:solidFill>
                      <a:srgbClr val="FFFFFF"/>
                    </a:solidFill>
                  </a:tcPr>
                </a:tc>
                <a:tc>
                  <a:txBody>
                    <a:bodyPr/>
                    <a:lstStyle/>
                    <a:p>
                      <a:r>
                        <a:rPr sz="1200" b="0">
                          <a:solidFill>
                            <a:srgbClr val="1F2937"/>
                          </a:solidFill>
                          <a:latin typeface="Calibri"/>
                        </a:rPr>
                        <a:t>majority vote per service (100 % deterministic)</a:t>
                      </a:r>
                    </a:p>
                  </a:txBody>
                  <a:tcPr marT="27432" marB="27432" anchor="ctr">
                    <a:solidFill>
                      <a:srgbClr val="FFFFFF"/>
                    </a:solidFill>
                  </a:tcPr>
                </a:tc>
                <a:extLst>
                  <a:ext uri="{0D108BD9-81ED-4DB2-BD59-A6C34878D82A}">
                    <a16:rowId xmlns:a16="http://schemas.microsoft.com/office/drawing/2014/main" val="10003"/>
                  </a:ext>
                </a:extLst>
              </a:tr>
              <a:tr h="402336">
                <a:tc>
                  <a:txBody>
                    <a:bodyPr/>
                    <a:lstStyle/>
                    <a:p>
                      <a:r>
                        <a:rPr sz="1200" b="0">
                          <a:solidFill>
                            <a:srgbClr val="1F2937"/>
                          </a:solidFill>
                          <a:latin typeface="Calibri"/>
                        </a:rPr>
                        <a:t>Assignee</a:t>
                      </a:r>
                    </a:p>
                  </a:txBody>
                  <a:tcPr marT="27432" marB="27432" anchor="ctr">
                    <a:solidFill>
                      <a:srgbClr val="F3F5F9"/>
                    </a:solidFill>
                  </a:tcPr>
                </a:tc>
                <a:tc>
                  <a:txBody>
                    <a:bodyPr/>
                    <a:lstStyle/>
                    <a:p>
                      <a:r>
                        <a:rPr sz="1200" b="1">
                          <a:solidFill>
                            <a:srgbClr val="1E3A8A"/>
                          </a:solidFill>
                          <a:latin typeface="Calibri"/>
                        </a:rPr>
                        <a:t>Code</a:t>
                      </a:r>
                    </a:p>
                  </a:txBody>
                  <a:tcPr marT="27432" marB="27432" anchor="ctr">
                    <a:solidFill>
                      <a:srgbClr val="F3F5F9"/>
                    </a:solidFill>
                  </a:tcPr>
                </a:tc>
                <a:tc>
                  <a:txBody>
                    <a:bodyPr/>
                    <a:lstStyle/>
                    <a:p>
                      <a:r>
                        <a:rPr sz="1200" b="0">
                          <a:solidFill>
                            <a:srgbClr val="1F2937"/>
                          </a:solidFill>
                          <a:latin typeface="Calibri"/>
                        </a:rPr>
                        <a:t>person with the fewest tickets (even workload)</a:t>
                      </a:r>
                    </a:p>
                  </a:txBody>
                  <a:tcPr marT="27432" marB="27432" anchor="ctr">
                    <a:solidFill>
                      <a:srgbClr val="F3F5F9"/>
                    </a:solidFill>
                  </a:tcPr>
                </a:tc>
                <a:extLst>
                  <a:ext uri="{0D108BD9-81ED-4DB2-BD59-A6C34878D82A}">
                    <a16:rowId xmlns:a16="http://schemas.microsoft.com/office/drawing/2014/main" val="10004"/>
                  </a:ext>
                </a:extLst>
              </a:tr>
              <a:tr h="402336">
                <a:tc>
                  <a:txBody>
                    <a:bodyPr/>
                    <a:lstStyle/>
                    <a:p>
                      <a:r>
                        <a:rPr sz="1200" b="0">
                          <a:solidFill>
                            <a:srgbClr val="1F2937"/>
                          </a:solidFill>
                          <a:latin typeface="Calibri"/>
                        </a:rPr>
                        <a:t>Priority</a:t>
                      </a:r>
                    </a:p>
                  </a:txBody>
                  <a:tcPr marT="27432" marB="27432" anchor="ctr">
                    <a:solidFill>
                      <a:srgbClr val="FFFFFF"/>
                    </a:solidFill>
                  </a:tcPr>
                </a:tc>
                <a:tc>
                  <a:txBody>
                    <a:bodyPr/>
                    <a:lstStyle/>
                    <a:p>
                      <a:r>
                        <a:rPr sz="1200" b="1">
                          <a:solidFill>
                            <a:srgbClr val="1E3A8A"/>
                          </a:solidFill>
                          <a:latin typeface="Calibri"/>
                        </a:rPr>
                        <a:t>Code</a:t>
                      </a:r>
                    </a:p>
                  </a:txBody>
                  <a:tcPr marT="27432" marB="27432" anchor="ctr">
                    <a:solidFill>
                      <a:srgbClr val="FFFFFF"/>
                    </a:solidFill>
                  </a:tcPr>
                </a:tc>
                <a:tc>
                  <a:txBody>
                    <a:bodyPr/>
                    <a:lstStyle/>
                    <a:p>
                      <a:r>
                        <a:rPr sz="1200" b="0">
                          <a:solidFill>
                            <a:srgbClr val="1F2937"/>
                          </a:solidFill>
                          <a:latin typeface="Calibri"/>
                        </a:rPr>
                        <a:t>PriorityMatrix(urgency, impact)</a:t>
                      </a:r>
                    </a:p>
                  </a:txBody>
                  <a:tcPr marT="27432" marB="27432" anchor="ctr">
                    <a:solidFill>
                      <a:srgbClr val="FFFFFF"/>
                    </a:solidFill>
                  </a:tcPr>
                </a:tc>
                <a:extLst>
                  <a:ext uri="{0D108BD9-81ED-4DB2-BD59-A6C34878D82A}">
                    <a16:rowId xmlns:a16="http://schemas.microsoft.com/office/drawing/2014/main" val="10005"/>
                  </a:ext>
                </a:extLst>
              </a:tr>
              <a:tr h="402336">
                <a:tc>
                  <a:txBody>
                    <a:bodyPr/>
                    <a:lstStyle/>
                    <a:p>
                      <a:r>
                        <a:rPr sz="1200" b="0">
                          <a:solidFill>
                            <a:srgbClr val="1F2937"/>
                          </a:solidFill>
                          <a:latin typeface="Calibri"/>
                        </a:rPr>
                        <a:t>Urgency, impact</a:t>
                      </a:r>
                    </a:p>
                  </a:txBody>
                  <a:tcPr marT="27432" marB="27432" anchor="ctr">
                    <a:solidFill>
                      <a:srgbClr val="F3F5F9"/>
                    </a:solidFill>
                  </a:tcPr>
                </a:tc>
                <a:tc>
                  <a:txBody>
                    <a:bodyPr/>
                    <a:lstStyle/>
                    <a:p>
                      <a:r>
                        <a:rPr sz="1200" b="1">
                          <a:solidFill>
                            <a:srgbClr val="78350F"/>
                          </a:solidFill>
                          <a:latin typeface="Calibri"/>
                        </a:rPr>
                        <a:t>LLM</a:t>
                      </a:r>
                    </a:p>
                  </a:txBody>
                  <a:tcPr marT="27432" marB="27432" anchor="ctr">
                    <a:solidFill>
                      <a:srgbClr val="F3F5F9"/>
                    </a:solidFill>
                  </a:tcPr>
                </a:tc>
                <a:tc>
                  <a:txBody>
                    <a:bodyPr/>
                    <a:lstStyle/>
                    <a:p>
                      <a:r>
                        <a:rPr sz="1200" b="0">
                          <a:solidFill>
                            <a:srgbClr val="1F2937"/>
                          </a:solidFill>
                          <a:latin typeface="Calibri"/>
                        </a:rPr>
                        <a:t>judged from the ticket text, never from the history</a:t>
                      </a:r>
                    </a:p>
                  </a:txBody>
                  <a:tcPr marT="27432" marB="27432" anchor="ctr">
                    <a:solidFill>
                      <a:srgbClr val="F3F5F9"/>
                    </a:solidFill>
                  </a:tcPr>
                </a:tc>
                <a:extLst>
                  <a:ext uri="{0D108BD9-81ED-4DB2-BD59-A6C34878D82A}">
                    <a16:rowId xmlns:a16="http://schemas.microsoft.com/office/drawing/2014/main" val="10006"/>
                  </a:ext>
                </a:extLst>
              </a:tr>
              <a:tr h="402336">
                <a:tc>
                  <a:txBody>
                    <a:bodyPr/>
                    <a:lstStyle/>
                    <a:p>
                      <a:r>
                        <a:rPr sz="1200" b="0">
                          <a:solidFill>
                            <a:srgbClr val="1F2937"/>
                          </a:solidFill>
                          <a:latin typeface="Calibri"/>
                        </a:rPr>
                        <a:t>Status and comment</a:t>
                      </a:r>
                    </a:p>
                  </a:txBody>
                  <a:tcPr marT="27432" marB="27432" anchor="ctr">
                    <a:solidFill>
                      <a:srgbClr val="FFFFFF"/>
                    </a:solidFill>
                  </a:tcPr>
                </a:tc>
                <a:tc>
                  <a:txBody>
                    <a:bodyPr/>
                    <a:lstStyle/>
                    <a:p>
                      <a:r>
                        <a:rPr sz="1200" b="1">
                          <a:solidFill>
                            <a:srgbClr val="78350F"/>
                          </a:solidFill>
                          <a:latin typeface="Calibri"/>
                        </a:rPr>
                        <a:t>LLM</a:t>
                      </a:r>
                    </a:p>
                  </a:txBody>
                  <a:tcPr marT="27432" marB="27432" anchor="ctr">
                    <a:solidFill>
                      <a:srgbClr val="FFFFFF"/>
                    </a:solidFill>
                  </a:tcPr>
                </a:tc>
                <a:tc>
                  <a:txBody>
                    <a:bodyPr/>
                    <a:lstStyle/>
                    <a:p>
                      <a:r>
                        <a:rPr sz="1200" b="0">
                          <a:solidFill>
                            <a:srgbClr val="1F2937"/>
                          </a:solidFill>
                          <a:latin typeface="Calibri"/>
                        </a:rPr>
                        <a:t>drafted from the text and similar tickets</a:t>
                      </a:r>
                    </a:p>
                  </a:txBody>
                  <a:tcPr marT="27432" marB="27432" anchor="ctr">
                    <a:solidFill>
                      <a:srgbClr val="FFFFFF"/>
                    </a:solidFill>
                  </a:tcPr>
                </a:tc>
                <a:extLst>
                  <a:ext uri="{0D108BD9-81ED-4DB2-BD59-A6C34878D82A}">
                    <a16:rowId xmlns:a16="http://schemas.microsoft.com/office/drawing/2014/main" val="10007"/>
                  </a:ext>
                </a:extLst>
              </a:tr>
            </a:tbl>
          </a:graphicData>
        </a:graphic>
      </p:graphicFrame>
      <p:sp>
        <p:nvSpPr>
          <p:cNvPr id="6" name="Rounded Rectangle 5"/>
          <p:cNvSpPr/>
          <p:nvPr/>
        </p:nvSpPr>
        <p:spPr>
          <a:xfrm>
            <a:off x="457200" y="4892040"/>
            <a:ext cx="1965960" cy="1463040"/>
          </a:xfrm>
          <a:prstGeom prst="roundRect">
            <a:avLst>
              <a:gd name="adj" fmla="val 5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85216" y="4965192"/>
            <a:ext cx="1737360" cy="274320"/>
          </a:xfrm>
          <a:prstGeom prst="rect">
            <a:avLst/>
          </a:prstGeom>
          <a:noFill/>
        </p:spPr>
        <p:txBody>
          <a:bodyPr wrap="square" lIns="0" tIns="0" rIns="0" bIns="0" anchor="t">
            <a:spAutoFit/>
          </a:bodyPr>
          <a:lstStyle/>
          <a:p>
            <a:pPr algn="l"/>
            <a:r>
              <a:rPr sz="1300" b="1">
                <a:solidFill>
                  <a:srgbClr val="0F8B8D"/>
                </a:solidFill>
                <a:latin typeface="Cambria"/>
              </a:rPr>
              <a:t>Safety net</a:t>
            </a:r>
          </a:p>
        </p:txBody>
      </p:sp>
      <p:sp>
        <p:nvSpPr>
          <p:cNvPr id="8" name="TextBox 7"/>
          <p:cNvSpPr txBox="1"/>
          <p:nvPr/>
        </p:nvSpPr>
        <p:spPr>
          <a:xfrm>
            <a:off x="585216" y="5285232"/>
            <a:ext cx="1737360" cy="1005840"/>
          </a:xfrm>
          <a:prstGeom prst="rect">
            <a:avLst/>
          </a:prstGeom>
          <a:noFill/>
        </p:spPr>
        <p:txBody>
          <a:bodyPr wrap="square" lIns="0" tIns="0" rIns="0" bIns="0" anchor="t">
            <a:spAutoFit/>
          </a:bodyPr>
          <a:lstStyle/>
          <a:p>
            <a:pPr algn="l"/>
            <a:r>
              <a:rPr sz="1150" b="0">
                <a:solidFill>
                  <a:srgbClr val="1F2937"/>
                </a:solidFill>
                <a:latin typeface="Calibri"/>
              </a:rPr>
              <a:t>3 retries, 60 s timeout, deterministic fallback and a failure log per ticket.</a:t>
            </a:r>
          </a:p>
        </p:txBody>
      </p:sp>
      <p:sp>
        <p:nvSpPr>
          <p:cNvPr id="9" name="Rounded Rectangle 8"/>
          <p:cNvSpPr/>
          <p:nvPr/>
        </p:nvSpPr>
        <p:spPr>
          <a:xfrm>
            <a:off x="2542032" y="4892040"/>
            <a:ext cx="1965960" cy="1463040"/>
          </a:xfrm>
          <a:prstGeom prst="roundRect">
            <a:avLst>
              <a:gd name="adj" fmla="val 5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2670048" y="4965192"/>
            <a:ext cx="1737360" cy="274320"/>
          </a:xfrm>
          <a:prstGeom prst="rect">
            <a:avLst/>
          </a:prstGeom>
          <a:noFill/>
        </p:spPr>
        <p:txBody>
          <a:bodyPr wrap="square" lIns="0" tIns="0" rIns="0" bIns="0" anchor="t">
            <a:spAutoFit/>
          </a:bodyPr>
          <a:lstStyle/>
          <a:p>
            <a:pPr algn="l"/>
            <a:r>
              <a:rPr sz="1300" b="1">
                <a:solidFill>
                  <a:srgbClr val="0F8B8D"/>
                </a:solidFill>
                <a:latin typeface="Cambria"/>
              </a:rPr>
              <a:t>Human in the loop</a:t>
            </a:r>
          </a:p>
        </p:txBody>
      </p:sp>
      <p:sp>
        <p:nvSpPr>
          <p:cNvPr id="11" name="TextBox 10"/>
          <p:cNvSpPr txBox="1"/>
          <p:nvPr/>
        </p:nvSpPr>
        <p:spPr>
          <a:xfrm>
            <a:off x="2670048" y="5285232"/>
            <a:ext cx="1737360" cy="1005840"/>
          </a:xfrm>
          <a:prstGeom prst="rect">
            <a:avLst/>
          </a:prstGeom>
          <a:noFill/>
        </p:spPr>
        <p:txBody>
          <a:bodyPr wrap="square" lIns="0" tIns="0" rIns="0" bIns="0" anchor="t">
            <a:spAutoFit/>
          </a:bodyPr>
          <a:lstStyle/>
          <a:p>
            <a:pPr algn="l"/>
            <a:r>
              <a:rPr sz="1150" b="0">
                <a:solidFill>
                  <a:srgbClr val="1F2937"/>
                </a:solidFill>
                <a:latin typeface="Calibri"/>
              </a:rPr>
              <a:t>Approve, edit or reject. Every edit is stored per field.</a:t>
            </a:r>
          </a:p>
        </p:txBody>
      </p:sp>
      <p:sp>
        <p:nvSpPr>
          <p:cNvPr id="12" name="Rounded Rectangle 11"/>
          <p:cNvSpPr/>
          <p:nvPr/>
        </p:nvSpPr>
        <p:spPr>
          <a:xfrm>
            <a:off x="4626864" y="4892040"/>
            <a:ext cx="1965960" cy="1463040"/>
          </a:xfrm>
          <a:prstGeom prst="roundRect">
            <a:avLst>
              <a:gd name="adj" fmla="val 5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754879" y="4965192"/>
            <a:ext cx="1737360" cy="274320"/>
          </a:xfrm>
          <a:prstGeom prst="rect">
            <a:avLst/>
          </a:prstGeom>
          <a:noFill/>
        </p:spPr>
        <p:txBody>
          <a:bodyPr wrap="square" lIns="0" tIns="0" rIns="0" bIns="0" anchor="t">
            <a:spAutoFit/>
          </a:bodyPr>
          <a:lstStyle/>
          <a:p>
            <a:pPr algn="l"/>
            <a:r>
              <a:rPr sz="1300" b="1">
                <a:solidFill>
                  <a:srgbClr val="0F8B8D"/>
                </a:solidFill>
                <a:latin typeface="Cambria"/>
              </a:rPr>
              <a:t>Untrusted text</a:t>
            </a:r>
          </a:p>
        </p:txBody>
      </p:sp>
      <p:sp>
        <p:nvSpPr>
          <p:cNvPr id="14" name="TextBox 13"/>
          <p:cNvSpPr txBox="1"/>
          <p:nvPr/>
        </p:nvSpPr>
        <p:spPr>
          <a:xfrm>
            <a:off x="4754879" y="5285232"/>
            <a:ext cx="1737360" cy="1005840"/>
          </a:xfrm>
          <a:prstGeom prst="rect">
            <a:avLst/>
          </a:prstGeom>
          <a:noFill/>
        </p:spPr>
        <p:txBody>
          <a:bodyPr wrap="square" lIns="0" tIns="0" rIns="0" bIns="0" anchor="t">
            <a:spAutoFit/>
          </a:bodyPr>
          <a:lstStyle/>
          <a:p>
            <a:pPr algn="l"/>
            <a:r>
              <a:rPr sz="1150" b="0">
                <a:solidFill>
                  <a:srgbClr val="1F2937"/>
                </a:solidFill>
                <a:latin typeface="Calibri"/>
              </a:rPr>
              <a:t>Ticket text only in the user message, never in instructions.</a:t>
            </a:r>
          </a:p>
        </p:txBody>
      </p:sp>
      <p:sp>
        <p:nvSpPr>
          <p:cNvPr id="15" name="Rounded Rectangle 14"/>
          <p:cNvSpPr/>
          <p:nvPr/>
        </p:nvSpPr>
        <p:spPr>
          <a:xfrm>
            <a:off x="6858000" y="1463040"/>
            <a:ext cx="4873752" cy="2377440"/>
          </a:xfrm>
          <a:prstGeom prst="roundRect">
            <a:avLst>
              <a:gd name="adj" fmla="val 3000"/>
            </a:avLst>
          </a:prstGeom>
          <a:solidFill>
            <a:srgbClr val="F8FAFC"/>
          </a:solidFill>
          <a:ln w="15875">
            <a:solidFill>
              <a:srgbClr val="9AA3B2"/>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6858000" y="3977639"/>
            <a:ext cx="4873752" cy="2377440"/>
          </a:xfrm>
          <a:prstGeom prst="roundRect">
            <a:avLst>
              <a:gd name="adj" fmla="val 3000"/>
            </a:avLst>
          </a:prstGeom>
          <a:solidFill>
            <a:srgbClr val="F8FAFC"/>
          </a:solidFill>
          <a:ln w="15875">
            <a:solidFill>
              <a:srgbClr val="9AA3B2"/>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457200" y="6510528"/>
            <a:ext cx="8229600" cy="228600"/>
          </a:xfrm>
          <a:prstGeom prst="rect">
            <a:avLst/>
          </a:prstGeom>
          <a:noFill/>
        </p:spPr>
        <p:txBody>
          <a:bodyPr wrap="square" lIns="0" tIns="0" rIns="0" bIns="0" anchor="t">
            <a:spAutoFit/>
          </a:bodyPr>
          <a:lstStyle/>
          <a:p>
            <a:pPr algn="l"/>
            <a:r>
              <a:rPr sz="1000" b="0">
                <a:solidFill>
                  <a:srgbClr val="6B7280"/>
                </a:solidFill>
                <a:latin typeface="Calibri"/>
              </a:rPr>
              <a:t>TicketTriage  ·  Swiss {ai} Weeks  ·  Pipeline (docs/features/triage-pipeline, web-triage-ui)</a:t>
            </a:r>
          </a:p>
        </p:txBody>
      </p:sp>
      <p:pic>
        <p:nvPicPr>
          <p:cNvPr id="23" name="Grafik 22">
            <a:extLst>
              <a:ext uri="{FF2B5EF4-FFF2-40B4-BE49-F238E27FC236}">
                <a16:creationId xmlns:a16="http://schemas.microsoft.com/office/drawing/2014/main" id="{E3381A78-06EF-6610-E48F-EE461CFECE4A}"/>
              </a:ext>
            </a:extLst>
          </p:cNvPr>
          <p:cNvPicPr>
            <a:picLocks noChangeAspect="1"/>
          </p:cNvPicPr>
          <p:nvPr/>
        </p:nvPicPr>
        <p:blipFill>
          <a:blip r:embed="rId3"/>
          <a:stretch>
            <a:fillRect/>
          </a:stretch>
        </p:blipFill>
        <p:spPr>
          <a:xfrm>
            <a:off x="6992855" y="4275481"/>
            <a:ext cx="4599831" cy="1741271"/>
          </a:xfrm>
          <a:prstGeom prst="rect">
            <a:avLst/>
          </a:prstGeom>
        </p:spPr>
      </p:pic>
      <p:pic>
        <p:nvPicPr>
          <p:cNvPr id="25" name="Grafik 24">
            <a:extLst>
              <a:ext uri="{FF2B5EF4-FFF2-40B4-BE49-F238E27FC236}">
                <a16:creationId xmlns:a16="http://schemas.microsoft.com/office/drawing/2014/main" id="{2B535C65-D08E-379D-E198-F1828D3F6CE7}"/>
              </a:ext>
            </a:extLst>
          </p:cNvPr>
          <p:cNvPicPr>
            <a:picLocks noChangeAspect="1"/>
          </p:cNvPicPr>
          <p:nvPr/>
        </p:nvPicPr>
        <p:blipFill>
          <a:blip r:embed="rId4"/>
          <a:stretch>
            <a:fillRect/>
          </a:stretch>
        </p:blipFill>
        <p:spPr>
          <a:xfrm>
            <a:off x="6992855" y="1704929"/>
            <a:ext cx="4599831" cy="1893662"/>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val 1"/>
          <p:cNvSpPr/>
          <p:nvPr/>
        </p:nvSpPr>
        <p:spPr>
          <a:xfrm>
            <a:off x="457200" y="384048"/>
            <a:ext cx="566928" cy="566928"/>
          </a:xfrm>
          <a:prstGeom prst="ellipse">
            <a:avLst/>
          </a:prstGeom>
          <a:solidFill>
            <a:srgbClr val="1B2A49"/>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200" b="1">
                <a:solidFill>
                  <a:srgbClr val="FFFFFF"/>
                </a:solidFill>
                <a:latin typeface="Cambria"/>
              </a:rPr>
              <a:t>5</a:t>
            </a:r>
          </a:p>
        </p:txBody>
      </p:sp>
      <p:sp>
        <p:nvSpPr>
          <p:cNvPr id="3" name="TextBox 2"/>
          <p:cNvSpPr txBox="1"/>
          <p:nvPr/>
        </p:nvSpPr>
        <p:spPr>
          <a:xfrm>
            <a:off x="1234440" y="274320"/>
            <a:ext cx="10515600" cy="548640"/>
          </a:xfrm>
          <a:prstGeom prst="rect">
            <a:avLst/>
          </a:prstGeom>
          <a:noFill/>
        </p:spPr>
        <p:txBody>
          <a:bodyPr wrap="square" lIns="0" tIns="0" rIns="0" bIns="0" anchor="ctr">
            <a:spAutoFit/>
          </a:bodyPr>
          <a:lstStyle/>
          <a:p>
            <a:pPr algn="l"/>
            <a:r>
              <a:rPr sz="3000" b="1">
                <a:solidFill>
                  <a:srgbClr val="1B2A49"/>
                </a:solidFill>
                <a:latin typeface="Cambria"/>
              </a:rPr>
              <a:t>Tech stack and setup</a:t>
            </a:r>
          </a:p>
        </p:txBody>
      </p:sp>
      <p:sp>
        <p:nvSpPr>
          <p:cNvPr id="4" name="TextBox 3"/>
          <p:cNvSpPr txBox="1"/>
          <p:nvPr/>
        </p:nvSpPr>
        <p:spPr>
          <a:xfrm>
            <a:off x="1234440" y="841248"/>
            <a:ext cx="10515600" cy="365760"/>
          </a:xfrm>
          <a:prstGeom prst="rect">
            <a:avLst/>
          </a:prstGeom>
          <a:noFill/>
        </p:spPr>
        <p:txBody>
          <a:bodyPr wrap="square" lIns="0" tIns="0" rIns="0" bIns="0" anchor="t">
            <a:spAutoFit/>
          </a:bodyPr>
          <a:lstStyle/>
          <a:p>
            <a:pPr algn="l"/>
            <a:r>
              <a:rPr sz="1400" b="0">
                <a:solidFill>
                  <a:srgbClr val="6B7280"/>
                </a:solidFill>
                <a:latin typeface="Calibri"/>
              </a:rPr>
              <a:t>Modern .NET, one command to run everything, documented decisions</a:t>
            </a:r>
          </a:p>
        </p:txBody>
      </p:sp>
      <p:sp>
        <p:nvSpPr>
          <p:cNvPr id="5" name="Rounded Rectangle 4"/>
          <p:cNvSpPr/>
          <p:nvPr/>
        </p:nvSpPr>
        <p:spPr>
          <a:xfrm>
            <a:off x="457200" y="1463040"/>
            <a:ext cx="3611880" cy="2057400"/>
          </a:xfrm>
          <a:prstGeom prst="roundRect">
            <a:avLst>
              <a:gd name="adj" fmla="val 5000"/>
            </a:avLst>
          </a:prstGeom>
          <a:solidFill>
            <a:srgbClr val="F3F5F9"/>
          </a:solidFill>
          <a:ln w="12700">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40080" y="1600200"/>
            <a:ext cx="3246120" cy="365760"/>
          </a:xfrm>
          <a:prstGeom prst="rect">
            <a:avLst/>
          </a:prstGeom>
          <a:noFill/>
        </p:spPr>
        <p:txBody>
          <a:bodyPr wrap="square" lIns="0" tIns="0" rIns="0" bIns="0" anchor="t">
            <a:spAutoFit/>
          </a:bodyPr>
          <a:lstStyle/>
          <a:p>
            <a:pPr algn="l"/>
            <a:r>
              <a:rPr sz="1700" b="1">
                <a:solidFill>
                  <a:srgbClr val="1B2A49"/>
                </a:solidFill>
                <a:latin typeface="Cambria"/>
              </a:rPr>
              <a:t>Runtime and UI</a:t>
            </a:r>
          </a:p>
        </p:txBody>
      </p:sp>
      <p:sp>
        <p:nvSpPr>
          <p:cNvPr id="7" name="TextBox 6"/>
          <p:cNvSpPr txBox="1"/>
          <p:nvPr/>
        </p:nvSpPr>
        <p:spPr>
          <a:xfrm>
            <a:off x="640080" y="2029968"/>
            <a:ext cx="3246120" cy="868680"/>
          </a:xfrm>
          <a:prstGeom prst="rect">
            <a:avLst/>
          </a:prstGeom>
          <a:noFill/>
        </p:spPr>
        <p:txBody>
          <a:bodyPr wrap="square" lIns="0" tIns="0" rIns="0" bIns="0" anchor="t">
            <a:spAutoFit/>
          </a:bodyPr>
          <a:lstStyle/>
          <a:p>
            <a:pPr algn="l"/>
            <a:r>
              <a:rPr sz="1350" b="0">
                <a:solidFill>
                  <a:srgbClr val="1F2937"/>
                </a:solidFill>
                <a:latin typeface="Calibri"/>
              </a:rPr>
              <a:t>.NET 10 (LTS), C# 14, nullable, warnings as errors. Blazor Web App with interactive server rendering and MudBlazor.</a:t>
            </a:r>
          </a:p>
        </p:txBody>
      </p:sp>
      <p:sp>
        <p:nvSpPr>
          <p:cNvPr id="8" name="Rounded Rectangle 7"/>
          <p:cNvSpPr/>
          <p:nvPr/>
        </p:nvSpPr>
        <p:spPr>
          <a:xfrm>
            <a:off x="640080" y="3017520"/>
            <a:ext cx="786384" cy="292608"/>
          </a:xfrm>
          <a:prstGeom prst="roundRect">
            <a:avLst>
              <a:gd name="adj" fmla="val 50000"/>
            </a:avLst>
          </a:prstGeom>
          <a:solidFill>
            <a:srgbClr val="FFFFFF"/>
          </a:solidFill>
          <a:ln w="12700">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40080" y="3017520"/>
            <a:ext cx="786384" cy="292608"/>
          </a:xfrm>
          <a:prstGeom prst="rect">
            <a:avLst/>
          </a:prstGeom>
          <a:noFill/>
        </p:spPr>
        <p:txBody>
          <a:bodyPr wrap="square" lIns="0" tIns="0" rIns="0" bIns="0" anchor="ctr">
            <a:spAutoFit/>
          </a:bodyPr>
          <a:lstStyle/>
          <a:p>
            <a:pPr algn="ctr"/>
            <a:r>
              <a:rPr sz="1100" b="1">
                <a:solidFill>
                  <a:srgbClr val="1B2A49"/>
                </a:solidFill>
                <a:latin typeface="Calibri"/>
              </a:rPr>
              <a:t>.NET 10</a:t>
            </a:r>
          </a:p>
        </p:txBody>
      </p:sp>
      <p:sp>
        <p:nvSpPr>
          <p:cNvPr id="10" name="Rounded Rectangle 9"/>
          <p:cNvSpPr/>
          <p:nvPr/>
        </p:nvSpPr>
        <p:spPr>
          <a:xfrm>
            <a:off x="1517904" y="3017520"/>
            <a:ext cx="713232" cy="292608"/>
          </a:xfrm>
          <a:prstGeom prst="roundRect">
            <a:avLst>
              <a:gd name="adj" fmla="val 50000"/>
            </a:avLst>
          </a:prstGeom>
          <a:solidFill>
            <a:srgbClr val="FFFFFF"/>
          </a:solidFill>
          <a:ln w="12700">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517904" y="3017520"/>
            <a:ext cx="713232" cy="292608"/>
          </a:xfrm>
          <a:prstGeom prst="rect">
            <a:avLst/>
          </a:prstGeom>
          <a:noFill/>
        </p:spPr>
        <p:txBody>
          <a:bodyPr wrap="square" lIns="0" tIns="0" rIns="0" bIns="0" anchor="ctr">
            <a:spAutoFit/>
          </a:bodyPr>
          <a:lstStyle/>
          <a:p>
            <a:pPr algn="ctr"/>
            <a:r>
              <a:rPr sz="1100" b="1">
                <a:solidFill>
                  <a:srgbClr val="1B2A49"/>
                </a:solidFill>
                <a:latin typeface="Calibri"/>
              </a:rPr>
              <a:t>Blazor</a:t>
            </a:r>
          </a:p>
        </p:txBody>
      </p:sp>
      <p:sp>
        <p:nvSpPr>
          <p:cNvPr id="12" name="Rounded Rectangle 11"/>
          <p:cNvSpPr/>
          <p:nvPr/>
        </p:nvSpPr>
        <p:spPr>
          <a:xfrm>
            <a:off x="2322576" y="3017520"/>
            <a:ext cx="932688" cy="292608"/>
          </a:xfrm>
          <a:prstGeom prst="roundRect">
            <a:avLst>
              <a:gd name="adj" fmla="val 50000"/>
            </a:avLst>
          </a:prstGeom>
          <a:solidFill>
            <a:srgbClr val="FFFFFF"/>
          </a:solidFill>
          <a:ln w="12700">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2322576" y="3017520"/>
            <a:ext cx="932688" cy="292608"/>
          </a:xfrm>
          <a:prstGeom prst="rect">
            <a:avLst/>
          </a:prstGeom>
          <a:noFill/>
        </p:spPr>
        <p:txBody>
          <a:bodyPr wrap="square" lIns="0" tIns="0" rIns="0" bIns="0" anchor="ctr">
            <a:spAutoFit/>
          </a:bodyPr>
          <a:lstStyle/>
          <a:p>
            <a:pPr algn="ctr"/>
            <a:r>
              <a:rPr sz="1100" b="1">
                <a:solidFill>
                  <a:srgbClr val="1B2A49"/>
                </a:solidFill>
                <a:latin typeface="Calibri"/>
              </a:rPr>
              <a:t>MudBlazor</a:t>
            </a:r>
          </a:p>
        </p:txBody>
      </p:sp>
      <p:sp>
        <p:nvSpPr>
          <p:cNvPr id="14" name="Rounded Rectangle 13"/>
          <p:cNvSpPr/>
          <p:nvPr/>
        </p:nvSpPr>
        <p:spPr>
          <a:xfrm>
            <a:off x="4288536" y="1463040"/>
            <a:ext cx="3611880" cy="2057400"/>
          </a:xfrm>
          <a:prstGeom prst="roundRect">
            <a:avLst>
              <a:gd name="adj" fmla="val 5000"/>
            </a:avLst>
          </a:prstGeom>
          <a:solidFill>
            <a:srgbClr val="F3F5F9"/>
          </a:solidFill>
          <a:ln w="12700">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471416" y="1600200"/>
            <a:ext cx="3246120" cy="365760"/>
          </a:xfrm>
          <a:prstGeom prst="rect">
            <a:avLst/>
          </a:prstGeom>
          <a:noFill/>
        </p:spPr>
        <p:txBody>
          <a:bodyPr wrap="square" lIns="0" tIns="0" rIns="0" bIns="0" anchor="t">
            <a:spAutoFit/>
          </a:bodyPr>
          <a:lstStyle/>
          <a:p>
            <a:pPr algn="l"/>
            <a:r>
              <a:rPr sz="1700" b="1">
                <a:solidFill>
                  <a:srgbClr val="1B2A49"/>
                </a:solidFill>
                <a:latin typeface="Cambria"/>
              </a:rPr>
              <a:t>Orchestration</a:t>
            </a:r>
          </a:p>
        </p:txBody>
      </p:sp>
      <p:sp>
        <p:nvSpPr>
          <p:cNvPr id="16" name="TextBox 15"/>
          <p:cNvSpPr txBox="1"/>
          <p:nvPr/>
        </p:nvSpPr>
        <p:spPr>
          <a:xfrm>
            <a:off x="4471416" y="2029968"/>
            <a:ext cx="3246120" cy="868680"/>
          </a:xfrm>
          <a:prstGeom prst="rect">
            <a:avLst/>
          </a:prstGeom>
          <a:noFill/>
        </p:spPr>
        <p:txBody>
          <a:bodyPr wrap="square" lIns="0" tIns="0" rIns="0" bIns="0" anchor="t">
            <a:spAutoFit/>
          </a:bodyPr>
          <a:lstStyle/>
          <a:p>
            <a:pPr algn="l"/>
            <a:r>
              <a:rPr sz="1350" b="0">
                <a:solidFill>
                  <a:srgbClr val="1F2937"/>
                </a:solidFill>
                <a:latin typeface="Calibri"/>
              </a:rPr>
              <a:t>.NET Aspire 13: the AppHost starts SQLite, Web and Batch, injects the LLM secrets and gives one dashboard with logs, traces and health.</a:t>
            </a:r>
          </a:p>
        </p:txBody>
      </p:sp>
      <p:sp>
        <p:nvSpPr>
          <p:cNvPr id="17" name="Rounded Rectangle 16"/>
          <p:cNvSpPr/>
          <p:nvPr/>
        </p:nvSpPr>
        <p:spPr>
          <a:xfrm>
            <a:off x="4471416" y="3017520"/>
            <a:ext cx="932688" cy="292608"/>
          </a:xfrm>
          <a:prstGeom prst="roundRect">
            <a:avLst>
              <a:gd name="adj" fmla="val 50000"/>
            </a:avLst>
          </a:prstGeom>
          <a:solidFill>
            <a:srgbClr val="FFFFFF"/>
          </a:solidFill>
          <a:ln w="12700">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471416" y="3017520"/>
            <a:ext cx="932688" cy="292608"/>
          </a:xfrm>
          <a:prstGeom prst="rect">
            <a:avLst/>
          </a:prstGeom>
          <a:noFill/>
        </p:spPr>
        <p:txBody>
          <a:bodyPr wrap="square" lIns="0" tIns="0" rIns="0" bIns="0" anchor="ctr">
            <a:spAutoFit/>
          </a:bodyPr>
          <a:lstStyle/>
          <a:p>
            <a:pPr algn="ctr"/>
            <a:r>
              <a:rPr sz="1100" b="1">
                <a:solidFill>
                  <a:srgbClr val="1B2A49"/>
                </a:solidFill>
                <a:latin typeface="Calibri"/>
              </a:rPr>
              <a:t>Aspire 13</a:t>
            </a:r>
          </a:p>
        </p:txBody>
      </p:sp>
      <p:sp>
        <p:nvSpPr>
          <p:cNvPr id="19" name="Rounded Rectangle 18"/>
          <p:cNvSpPr/>
          <p:nvPr/>
        </p:nvSpPr>
        <p:spPr>
          <a:xfrm>
            <a:off x="5495544" y="3017520"/>
            <a:ext cx="1225296" cy="292608"/>
          </a:xfrm>
          <a:prstGeom prst="roundRect">
            <a:avLst>
              <a:gd name="adj" fmla="val 50000"/>
            </a:avLst>
          </a:prstGeom>
          <a:solidFill>
            <a:srgbClr val="FFFFFF"/>
          </a:solidFill>
          <a:ln w="12700">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5495544" y="3017520"/>
            <a:ext cx="1225296" cy="292608"/>
          </a:xfrm>
          <a:prstGeom prst="rect">
            <a:avLst/>
          </a:prstGeom>
          <a:noFill/>
        </p:spPr>
        <p:txBody>
          <a:bodyPr wrap="square" lIns="0" tIns="0" rIns="0" bIns="0" anchor="ctr">
            <a:spAutoFit/>
          </a:bodyPr>
          <a:lstStyle/>
          <a:p>
            <a:pPr algn="ctr"/>
            <a:r>
              <a:rPr sz="1100" b="1">
                <a:solidFill>
                  <a:srgbClr val="1B2A49"/>
                </a:solidFill>
                <a:latin typeface="Calibri"/>
              </a:rPr>
              <a:t>OpenTelemetry</a:t>
            </a:r>
          </a:p>
        </p:txBody>
      </p:sp>
      <p:sp>
        <p:nvSpPr>
          <p:cNvPr id="21" name="Rounded Rectangle 20"/>
          <p:cNvSpPr/>
          <p:nvPr/>
        </p:nvSpPr>
        <p:spPr>
          <a:xfrm>
            <a:off x="6812280" y="3017520"/>
            <a:ext cx="566928" cy="292608"/>
          </a:xfrm>
          <a:prstGeom prst="roundRect">
            <a:avLst>
              <a:gd name="adj" fmla="val 50000"/>
            </a:avLst>
          </a:prstGeom>
          <a:solidFill>
            <a:srgbClr val="FFFFFF"/>
          </a:solidFill>
          <a:ln w="12700">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812280" y="3017520"/>
            <a:ext cx="566928" cy="292608"/>
          </a:xfrm>
          <a:prstGeom prst="rect">
            <a:avLst/>
          </a:prstGeom>
          <a:noFill/>
        </p:spPr>
        <p:txBody>
          <a:bodyPr wrap="square" lIns="0" tIns="0" rIns="0" bIns="0" anchor="ctr">
            <a:spAutoFit/>
          </a:bodyPr>
          <a:lstStyle/>
          <a:p>
            <a:pPr algn="ctr"/>
            <a:r>
              <a:rPr sz="1100" b="1">
                <a:solidFill>
                  <a:srgbClr val="1B2A49"/>
                </a:solidFill>
                <a:latin typeface="Calibri"/>
              </a:rPr>
              <a:t>Logs</a:t>
            </a:r>
          </a:p>
        </p:txBody>
      </p:sp>
      <p:sp>
        <p:nvSpPr>
          <p:cNvPr id="23" name="Rounded Rectangle 22"/>
          <p:cNvSpPr/>
          <p:nvPr/>
        </p:nvSpPr>
        <p:spPr>
          <a:xfrm>
            <a:off x="8119872" y="1463040"/>
            <a:ext cx="3611880" cy="2057400"/>
          </a:xfrm>
          <a:prstGeom prst="roundRect">
            <a:avLst>
              <a:gd name="adj" fmla="val 5000"/>
            </a:avLst>
          </a:prstGeom>
          <a:solidFill>
            <a:srgbClr val="F3F5F9"/>
          </a:solidFill>
          <a:ln w="12700">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8302752" y="1600200"/>
            <a:ext cx="3246120" cy="365760"/>
          </a:xfrm>
          <a:prstGeom prst="rect">
            <a:avLst/>
          </a:prstGeom>
          <a:noFill/>
        </p:spPr>
        <p:txBody>
          <a:bodyPr wrap="square" lIns="0" tIns="0" rIns="0" bIns="0" anchor="t">
            <a:spAutoFit/>
          </a:bodyPr>
          <a:lstStyle/>
          <a:p>
            <a:pPr algn="l"/>
            <a:r>
              <a:rPr sz="1700" b="1">
                <a:solidFill>
                  <a:srgbClr val="1B2A49"/>
                </a:solidFill>
                <a:latin typeface="Cambria"/>
              </a:rPr>
              <a:t>Data</a:t>
            </a:r>
          </a:p>
        </p:txBody>
      </p:sp>
      <p:sp>
        <p:nvSpPr>
          <p:cNvPr id="25" name="TextBox 24"/>
          <p:cNvSpPr txBox="1"/>
          <p:nvPr/>
        </p:nvSpPr>
        <p:spPr>
          <a:xfrm>
            <a:off x="8302752" y="2029968"/>
            <a:ext cx="3246120" cy="868680"/>
          </a:xfrm>
          <a:prstGeom prst="rect">
            <a:avLst/>
          </a:prstGeom>
          <a:noFill/>
        </p:spPr>
        <p:txBody>
          <a:bodyPr wrap="square" lIns="0" tIns="0" rIns="0" bIns="0" anchor="t">
            <a:spAutoFit/>
          </a:bodyPr>
          <a:lstStyle/>
          <a:p>
            <a:pPr algn="l"/>
            <a:r>
              <a:rPr sz="1350" b="0">
                <a:solidFill>
                  <a:srgbClr val="1F2937"/>
                </a:solidFill>
                <a:latin typeface="Calibri"/>
              </a:rPr>
              <a:t>SQLite with EF Core 10, in-memory TF-IDF retrieval, central package management. Schema created on startup, training file imported once.</a:t>
            </a:r>
          </a:p>
        </p:txBody>
      </p:sp>
      <p:sp>
        <p:nvSpPr>
          <p:cNvPr id="26" name="Rounded Rectangle 25"/>
          <p:cNvSpPr/>
          <p:nvPr/>
        </p:nvSpPr>
        <p:spPr>
          <a:xfrm>
            <a:off x="8302752" y="3017520"/>
            <a:ext cx="713232" cy="292608"/>
          </a:xfrm>
          <a:prstGeom prst="roundRect">
            <a:avLst>
              <a:gd name="adj" fmla="val 50000"/>
            </a:avLst>
          </a:prstGeom>
          <a:solidFill>
            <a:srgbClr val="FFFFFF"/>
          </a:solidFill>
          <a:ln w="12700">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8302752" y="3017520"/>
            <a:ext cx="713232" cy="292608"/>
          </a:xfrm>
          <a:prstGeom prst="rect">
            <a:avLst/>
          </a:prstGeom>
          <a:noFill/>
        </p:spPr>
        <p:txBody>
          <a:bodyPr wrap="square" lIns="0" tIns="0" rIns="0" bIns="0" anchor="ctr">
            <a:spAutoFit/>
          </a:bodyPr>
          <a:lstStyle/>
          <a:p>
            <a:pPr algn="ctr"/>
            <a:r>
              <a:rPr sz="1100" b="1">
                <a:solidFill>
                  <a:srgbClr val="1B2A49"/>
                </a:solidFill>
                <a:latin typeface="Calibri"/>
              </a:rPr>
              <a:t>SQLite</a:t>
            </a:r>
          </a:p>
        </p:txBody>
      </p:sp>
      <p:sp>
        <p:nvSpPr>
          <p:cNvPr id="28" name="Rounded Rectangle 27"/>
          <p:cNvSpPr/>
          <p:nvPr/>
        </p:nvSpPr>
        <p:spPr>
          <a:xfrm>
            <a:off x="9107424" y="3017520"/>
            <a:ext cx="1005840" cy="292608"/>
          </a:xfrm>
          <a:prstGeom prst="roundRect">
            <a:avLst>
              <a:gd name="adj" fmla="val 50000"/>
            </a:avLst>
          </a:prstGeom>
          <a:solidFill>
            <a:srgbClr val="FFFFFF"/>
          </a:solidFill>
          <a:ln w="12700">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9107424" y="3017520"/>
            <a:ext cx="1005840" cy="292608"/>
          </a:xfrm>
          <a:prstGeom prst="rect">
            <a:avLst/>
          </a:prstGeom>
          <a:noFill/>
        </p:spPr>
        <p:txBody>
          <a:bodyPr wrap="square" lIns="0" tIns="0" rIns="0" bIns="0" anchor="ctr">
            <a:spAutoFit/>
          </a:bodyPr>
          <a:lstStyle/>
          <a:p>
            <a:pPr algn="ctr"/>
            <a:r>
              <a:rPr sz="1100" b="1">
                <a:solidFill>
                  <a:srgbClr val="1B2A49"/>
                </a:solidFill>
                <a:latin typeface="Calibri"/>
              </a:rPr>
              <a:t>EF Core 10</a:t>
            </a:r>
          </a:p>
        </p:txBody>
      </p:sp>
      <p:sp>
        <p:nvSpPr>
          <p:cNvPr id="30" name="Rounded Rectangle 29"/>
          <p:cNvSpPr/>
          <p:nvPr/>
        </p:nvSpPr>
        <p:spPr>
          <a:xfrm>
            <a:off x="10204704" y="3017520"/>
            <a:ext cx="713232" cy="292608"/>
          </a:xfrm>
          <a:prstGeom prst="roundRect">
            <a:avLst>
              <a:gd name="adj" fmla="val 50000"/>
            </a:avLst>
          </a:prstGeom>
          <a:solidFill>
            <a:srgbClr val="FFFFFF"/>
          </a:solidFill>
          <a:ln w="12700">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10204704" y="3017520"/>
            <a:ext cx="713232" cy="292608"/>
          </a:xfrm>
          <a:prstGeom prst="rect">
            <a:avLst/>
          </a:prstGeom>
          <a:noFill/>
        </p:spPr>
        <p:txBody>
          <a:bodyPr wrap="square" lIns="0" tIns="0" rIns="0" bIns="0" anchor="ctr">
            <a:spAutoFit/>
          </a:bodyPr>
          <a:lstStyle/>
          <a:p>
            <a:pPr algn="ctr"/>
            <a:r>
              <a:rPr sz="1100" b="1">
                <a:solidFill>
                  <a:srgbClr val="1B2A49"/>
                </a:solidFill>
                <a:latin typeface="Calibri"/>
              </a:rPr>
              <a:t>TF-IDF</a:t>
            </a:r>
          </a:p>
        </p:txBody>
      </p:sp>
      <p:sp>
        <p:nvSpPr>
          <p:cNvPr id="32" name="Rounded Rectangle 31"/>
          <p:cNvSpPr/>
          <p:nvPr/>
        </p:nvSpPr>
        <p:spPr>
          <a:xfrm>
            <a:off x="457200" y="3739896"/>
            <a:ext cx="3611880" cy="2057400"/>
          </a:xfrm>
          <a:prstGeom prst="roundRect">
            <a:avLst>
              <a:gd name="adj" fmla="val 5000"/>
            </a:avLst>
          </a:prstGeom>
          <a:solidFill>
            <a:srgbClr val="F3F5F9"/>
          </a:solidFill>
          <a:ln w="12700">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640080" y="3877056"/>
            <a:ext cx="3246120" cy="365760"/>
          </a:xfrm>
          <a:prstGeom prst="rect">
            <a:avLst/>
          </a:prstGeom>
          <a:noFill/>
        </p:spPr>
        <p:txBody>
          <a:bodyPr wrap="square" lIns="0" tIns="0" rIns="0" bIns="0" anchor="t">
            <a:spAutoFit/>
          </a:bodyPr>
          <a:lstStyle/>
          <a:p>
            <a:pPr algn="l"/>
            <a:r>
              <a:rPr sz="1700" b="1">
                <a:solidFill>
                  <a:srgbClr val="1B2A49"/>
                </a:solidFill>
                <a:latin typeface="Cambria"/>
              </a:rPr>
              <a:t>AI</a:t>
            </a:r>
          </a:p>
        </p:txBody>
      </p:sp>
      <p:sp>
        <p:nvSpPr>
          <p:cNvPr id="34" name="TextBox 33"/>
          <p:cNvSpPr txBox="1"/>
          <p:nvPr/>
        </p:nvSpPr>
        <p:spPr>
          <a:xfrm>
            <a:off x="640080" y="4306824"/>
            <a:ext cx="3246120" cy="868680"/>
          </a:xfrm>
          <a:prstGeom prst="rect">
            <a:avLst/>
          </a:prstGeom>
          <a:noFill/>
        </p:spPr>
        <p:txBody>
          <a:bodyPr wrap="square" lIns="0" tIns="0" rIns="0" bIns="0" anchor="t">
            <a:spAutoFit/>
          </a:bodyPr>
          <a:lstStyle/>
          <a:p>
            <a:pPr algn="l"/>
            <a:r>
              <a:rPr sz="1350" b="0">
                <a:solidFill>
                  <a:srgbClr val="1F2937"/>
                </a:solidFill>
                <a:latin typeface="Calibri"/>
              </a:rPr>
              <a:t>Microsoft Agent Framework 1.x on Microsoft.Extensions.AI. Switch between Azure OpenAI, OpenAI, Apertus (Swisscom) and local Ollama by config.</a:t>
            </a:r>
          </a:p>
        </p:txBody>
      </p:sp>
      <p:sp>
        <p:nvSpPr>
          <p:cNvPr id="35" name="Rounded Rectangle 34"/>
          <p:cNvSpPr/>
          <p:nvPr/>
        </p:nvSpPr>
        <p:spPr>
          <a:xfrm>
            <a:off x="640080" y="5294376"/>
            <a:ext cx="1371600" cy="292608"/>
          </a:xfrm>
          <a:prstGeom prst="roundRect">
            <a:avLst>
              <a:gd name="adj" fmla="val 50000"/>
            </a:avLst>
          </a:prstGeom>
          <a:solidFill>
            <a:srgbClr val="FFFFFF"/>
          </a:solidFill>
          <a:ln w="12700">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640080" y="5294376"/>
            <a:ext cx="1371600" cy="292608"/>
          </a:xfrm>
          <a:prstGeom prst="rect">
            <a:avLst/>
          </a:prstGeom>
          <a:noFill/>
        </p:spPr>
        <p:txBody>
          <a:bodyPr wrap="square" lIns="0" tIns="0" rIns="0" bIns="0" anchor="ctr">
            <a:spAutoFit/>
          </a:bodyPr>
          <a:lstStyle/>
          <a:p>
            <a:pPr algn="ctr"/>
            <a:r>
              <a:rPr sz="1100" b="1">
                <a:solidFill>
                  <a:srgbClr val="1B2A49"/>
                </a:solidFill>
                <a:latin typeface="Calibri"/>
              </a:rPr>
              <a:t>Agent Framework</a:t>
            </a:r>
          </a:p>
        </p:txBody>
      </p:sp>
      <p:sp>
        <p:nvSpPr>
          <p:cNvPr id="37" name="Rounded Rectangle 36"/>
          <p:cNvSpPr/>
          <p:nvPr/>
        </p:nvSpPr>
        <p:spPr>
          <a:xfrm>
            <a:off x="2103120" y="5294376"/>
            <a:ext cx="786384" cy="292608"/>
          </a:xfrm>
          <a:prstGeom prst="roundRect">
            <a:avLst>
              <a:gd name="adj" fmla="val 50000"/>
            </a:avLst>
          </a:prstGeom>
          <a:solidFill>
            <a:srgbClr val="FFFFFF"/>
          </a:solidFill>
          <a:ln w="12700">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2103120" y="5294376"/>
            <a:ext cx="786384" cy="292608"/>
          </a:xfrm>
          <a:prstGeom prst="rect">
            <a:avLst/>
          </a:prstGeom>
          <a:noFill/>
        </p:spPr>
        <p:txBody>
          <a:bodyPr wrap="square" lIns="0" tIns="0" rIns="0" bIns="0" anchor="ctr">
            <a:spAutoFit/>
          </a:bodyPr>
          <a:lstStyle/>
          <a:p>
            <a:pPr algn="ctr"/>
            <a:r>
              <a:rPr sz="1100" b="1">
                <a:solidFill>
                  <a:srgbClr val="1B2A49"/>
                </a:solidFill>
                <a:latin typeface="Calibri"/>
              </a:rPr>
              <a:t>Apertus</a:t>
            </a:r>
          </a:p>
        </p:txBody>
      </p:sp>
      <p:sp>
        <p:nvSpPr>
          <p:cNvPr id="39" name="Rounded Rectangle 38"/>
          <p:cNvSpPr/>
          <p:nvPr/>
        </p:nvSpPr>
        <p:spPr>
          <a:xfrm>
            <a:off x="2980944" y="5294376"/>
            <a:ext cx="713232" cy="292608"/>
          </a:xfrm>
          <a:prstGeom prst="roundRect">
            <a:avLst>
              <a:gd name="adj" fmla="val 50000"/>
            </a:avLst>
          </a:prstGeom>
          <a:solidFill>
            <a:srgbClr val="FFFFFF"/>
          </a:solidFill>
          <a:ln w="12700">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2980944" y="5294376"/>
            <a:ext cx="713232" cy="292608"/>
          </a:xfrm>
          <a:prstGeom prst="rect">
            <a:avLst/>
          </a:prstGeom>
          <a:noFill/>
        </p:spPr>
        <p:txBody>
          <a:bodyPr wrap="square" lIns="0" tIns="0" rIns="0" bIns="0" anchor="ctr">
            <a:spAutoFit/>
          </a:bodyPr>
          <a:lstStyle/>
          <a:p>
            <a:pPr algn="ctr"/>
            <a:r>
              <a:rPr sz="1100" b="1">
                <a:solidFill>
                  <a:srgbClr val="1B2A49"/>
                </a:solidFill>
                <a:latin typeface="Calibri"/>
              </a:rPr>
              <a:t>Ollama</a:t>
            </a:r>
          </a:p>
        </p:txBody>
      </p:sp>
      <p:sp>
        <p:nvSpPr>
          <p:cNvPr id="41" name="Rounded Rectangle 40"/>
          <p:cNvSpPr/>
          <p:nvPr/>
        </p:nvSpPr>
        <p:spPr>
          <a:xfrm>
            <a:off x="4288536" y="3739896"/>
            <a:ext cx="3611880" cy="2057400"/>
          </a:xfrm>
          <a:prstGeom prst="roundRect">
            <a:avLst>
              <a:gd name="adj" fmla="val 5000"/>
            </a:avLst>
          </a:prstGeom>
          <a:solidFill>
            <a:srgbClr val="F3F5F9"/>
          </a:solidFill>
          <a:ln w="12700">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4471416" y="3877056"/>
            <a:ext cx="3246120" cy="365760"/>
          </a:xfrm>
          <a:prstGeom prst="rect">
            <a:avLst/>
          </a:prstGeom>
          <a:noFill/>
        </p:spPr>
        <p:txBody>
          <a:bodyPr wrap="square" lIns="0" tIns="0" rIns="0" bIns="0" anchor="t">
            <a:spAutoFit/>
          </a:bodyPr>
          <a:lstStyle/>
          <a:p>
            <a:pPr algn="l"/>
            <a:r>
              <a:rPr sz="1700" b="1">
                <a:solidFill>
                  <a:srgbClr val="1B2A49"/>
                </a:solidFill>
                <a:latin typeface="Cambria"/>
              </a:rPr>
              <a:t>Quality</a:t>
            </a:r>
          </a:p>
        </p:txBody>
      </p:sp>
      <p:sp>
        <p:nvSpPr>
          <p:cNvPr id="43" name="TextBox 42"/>
          <p:cNvSpPr txBox="1"/>
          <p:nvPr/>
        </p:nvSpPr>
        <p:spPr>
          <a:xfrm>
            <a:off x="4471416" y="4306824"/>
            <a:ext cx="3246120" cy="868680"/>
          </a:xfrm>
          <a:prstGeom prst="rect">
            <a:avLst/>
          </a:prstGeom>
          <a:noFill/>
        </p:spPr>
        <p:txBody>
          <a:bodyPr wrap="square" lIns="0" tIns="0" rIns="0" bIns="0" anchor="t">
            <a:spAutoFit/>
          </a:bodyPr>
          <a:lstStyle/>
          <a:p>
            <a:pPr algn="l"/>
            <a:r>
              <a:rPr sz="1350" b="0">
                <a:solidFill>
                  <a:srgbClr val="1F2937"/>
                </a:solidFill>
                <a:latin typeface="Calibri"/>
              </a:rPr>
              <a:t>xUnit v3 with about 580 tests on Microsoft.Testing.Platform, fake chat client for the agents, OpenTelemetry, health checks and resilience.</a:t>
            </a:r>
          </a:p>
        </p:txBody>
      </p:sp>
      <p:sp>
        <p:nvSpPr>
          <p:cNvPr id="44" name="Rounded Rectangle 43"/>
          <p:cNvSpPr/>
          <p:nvPr/>
        </p:nvSpPr>
        <p:spPr>
          <a:xfrm>
            <a:off x="4471416" y="5294376"/>
            <a:ext cx="859536" cy="292608"/>
          </a:xfrm>
          <a:prstGeom prst="roundRect">
            <a:avLst>
              <a:gd name="adj" fmla="val 50000"/>
            </a:avLst>
          </a:prstGeom>
          <a:solidFill>
            <a:srgbClr val="FFFFFF"/>
          </a:solidFill>
          <a:ln w="12700">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4471416" y="5294376"/>
            <a:ext cx="859536" cy="292608"/>
          </a:xfrm>
          <a:prstGeom prst="rect">
            <a:avLst/>
          </a:prstGeom>
          <a:noFill/>
        </p:spPr>
        <p:txBody>
          <a:bodyPr wrap="square" lIns="0" tIns="0" rIns="0" bIns="0" anchor="ctr">
            <a:spAutoFit/>
          </a:bodyPr>
          <a:lstStyle/>
          <a:p>
            <a:pPr algn="ctr"/>
            <a:r>
              <a:rPr sz="1100" b="1">
                <a:solidFill>
                  <a:srgbClr val="1B2A49"/>
                </a:solidFill>
                <a:latin typeface="Calibri"/>
              </a:rPr>
              <a:t>xUnit v3</a:t>
            </a:r>
          </a:p>
        </p:txBody>
      </p:sp>
      <p:sp>
        <p:nvSpPr>
          <p:cNvPr id="46" name="Rounded Rectangle 45"/>
          <p:cNvSpPr/>
          <p:nvPr/>
        </p:nvSpPr>
        <p:spPr>
          <a:xfrm>
            <a:off x="5422392" y="5294376"/>
            <a:ext cx="932688" cy="292608"/>
          </a:xfrm>
          <a:prstGeom prst="roundRect">
            <a:avLst>
              <a:gd name="adj" fmla="val 50000"/>
            </a:avLst>
          </a:prstGeom>
          <a:solidFill>
            <a:srgbClr val="FFFFFF"/>
          </a:solidFill>
          <a:ln w="12700">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5422392" y="5294376"/>
            <a:ext cx="932688" cy="292608"/>
          </a:xfrm>
          <a:prstGeom prst="rect">
            <a:avLst/>
          </a:prstGeom>
          <a:noFill/>
        </p:spPr>
        <p:txBody>
          <a:bodyPr wrap="square" lIns="0" tIns="0" rIns="0" bIns="0" anchor="ctr">
            <a:spAutoFit/>
          </a:bodyPr>
          <a:lstStyle/>
          <a:p>
            <a:pPr algn="ctr"/>
            <a:r>
              <a:rPr sz="1100" b="1">
                <a:solidFill>
                  <a:srgbClr val="1B2A49"/>
                </a:solidFill>
                <a:latin typeface="Calibri"/>
              </a:rPr>
              <a:t>580 tests</a:t>
            </a:r>
          </a:p>
        </p:txBody>
      </p:sp>
      <p:sp>
        <p:nvSpPr>
          <p:cNvPr id="48" name="Rounded Rectangle 47"/>
          <p:cNvSpPr/>
          <p:nvPr/>
        </p:nvSpPr>
        <p:spPr>
          <a:xfrm>
            <a:off x="6446520" y="5294376"/>
            <a:ext cx="932688" cy="292608"/>
          </a:xfrm>
          <a:prstGeom prst="roundRect">
            <a:avLst>
              <a:gd name="adj" fmla="val 50000"/>
            </a:avLst>
          </a:prstGeom>
          <a:solidFill>
            <a:srgbClr val="FFFFFF"/>
          </a:solidFill>
          <a:ln w="12700">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6446520" y="5294376"/>
            <a:ext cx="932688" cy="292608"/>
          </a:xfrm>
          <a:prstGeom prst="rect">
            <a:avLst/>
          </a:prstGeom>
          <a:noFill/>
        </p:spPr>
        <p:txBody>
          <a:bodyPr wrap="square" lIns="0" tIns="0" rIns="0" bIns="0" anchor="ctr">
            <a:spAutoFit/>
          </a:bodyPr>
          <a:lstStyle/>
          <a:p>
            <a:pPr algn="ctr"/>
            <a:r>
              <a:rPr sz="1100" b="1">
                <a:solidFill>
                  <a:srgbClr val="1B2A49"/>
                </a:solidFill>
                <a:latin typeface="Calibri"/>
              </a:rPr>
              <a:t>Analyzers</a:t>
            </a:r>
          </a:p>
        </p:txBody>
      </p:sp>
      <p:sp>
        <p:nvSpPr>
          <p:cNvPr id="50" name="Rounded Rectangle 49"/>
          <p:cNvSpPr/>
          <p:nvPr/>
        </p:nvSpPr>
        <p:spPr>
          <a:xfrm>
            <a:off x="8119872" y="3739896"/>
            <a:ext cx="3611880" cy="2057400"/>
          </a:xfrm>
          <a:prstGeom prst="roundRect">
            <a:avLst>
              <a:gd name="adj" fmla="val 5000"/>
            </a:avLst>
          </a:prstGeom>
          <a:solidFill>
            <a:srgbClr val="F3F5F9"/>
          </a:solidFill>
          <a:ln w="12700">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8302752" y="3877056"/>
            <a:ext cx="3246120" cy="365760"/>
          </a:xfrm>
          <a:prstGeom prst="rect">
            <a:avLst/>
          </a:prstGeom>
          <a:noFill/>
        </p:spPr>
        <p:txBody>
          <a:bodyPr wrap="square" lIns="0" tIns="0" rIns="0" bIns="0" anchor="t">
            <a:spAutoFit/>
          </a:bodyPr>
          <a:lstStyle/>
          <a:p>
            <a:pPr algn="l"/>
            <a:r>
              <a:rPr sz="1700" b="1">
                <a:solidFill>
                  <a:srgbClr val="1B2A49"/>
                </a:solidFill>
                <a:latin typeface="Cambria"/>
              </a:rPr>
              <a:t>Documentation and workflow</a:t>
            </a:r>
          </a:p>
        </p:txBody>
      </p:sp>
      <p:sp>
        <p:nvSpPr>
          <p:cNvPr id="52" name="TextBox 51"/>
          <p:cNvSpPr txBox="1"/>
          <p:nvPr/>
        </p:nvSpPr>
        <p:spPr>
          <a:xfrm>
            <a:off x="8302752" y="4306824"/>
            <a:ext cx="3246120" cy="868680"/>
          </a:xfrm>
          <a:prstGeom prst="rect">
            <a:avLst/>
          </a:prstGeom>
          <a:noFill/>
        </p:spPr>
        <p:txBody>
          <a:bodyPr wrap="square" lIns="0" tIns="0" rIns="0" bIns="0" anchor="t">
            <a:spAutoFit/>
          </a:bodyPr>
          <a:lstStyle/>
          <a:p>
            <a:pPr algn="l"/>
            <a:r>
              <a:rPr sz="1350" b="0">
                <a:solidFill>
                  <a:srgbClr val="1F2937"/>
                </a:solidFill>
                <a:latin typeface="Calibri"/>
              </a:rPr>
              <a:t>requirements, architecture, ADRs and a README per feature. Built with Claude Code: CLAUDE.md, skills, review agents, hooks.</a:t>
            </a:r>
          </a:p>
        </p:txBody>
      </p:sp>
      <p:sp>
        <p:nvSpPr>
          <p:cNvPr id="53" name="Rounded Rectangle 52"/>
          <p:cNvSpPr/>
          <p:nvPr/>
        </p:nvSpPr>
        <p:spPr>
          <a:xfrm>
            <a:off x="8302752" y="5294376"/>
            <a:ext cx="566928" cy="292608"/>
          </a:xfrm>
          <a:prstGeom prst="roundRect">
            <a:avLst>
              <a:gd name="adj" fmla="val 50000"/>
            </a:avLst>
          </a:prstGeom>
          <a:solidFill>
            <a:srgbClr val="FFFFFF"/>
          </a:solidFill>
          <a:ln w="12700">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8302752" y="5294376"/>
            <a:ext cx="566928" cy="292608"/>
          </a:xfrm>
          <a:prstGeom prst="rect">
            <a:avLst/>
          </a:prstGeom>
          <a:noFill/>
        </p:spPr>
        <p:txBody>
          <a:bodyPr wrap="square" lIns="0" tIns="0" rIns="0" bIns="0" anchor="ctr">
            <a:spAutoFit/>
          </a:bodyPr>
          <a:lstStyle/>
          <a:p>
            <a:pPr algn="ctr"/>
            <a:r>
              <a:rPr sz="1100" b="1">
                <a:solidFill>
                  <a:srgbClr val="1B2A49"/>
                </a:solidFill>
                <a:latin typeface="Calibri"/>
              </a:rPr>
              <a:t>ADRs</a:t>
            </a:r>
          </a:p>
        </p:txBody>
      </p:sp>
      <p:sp>
        <p:nvSpPr>
          <p:cNvPr id="55" name="Rounded Rectangle 54"/>
          <p:cNvSpPr/>
          <p:nvPr/>
        </p:nvSpPr>
        <p:spPr>
          <a:xfrm>
            <a:off x="8961120" y="5294376"/>
            <a:ext cx="932688" cy="292608"/>
          </a:xfrm>
          <a:prstGeom prst="roundRect">
            <a:avLst>
              <a:gd name="adj" fmla="val 50000"/>
            </a:avLst>
          </a:prstGeom>
          <a:solidFill>
            <a:srgbClr val="FFFFFF"/>
          </a:solidFill>
          <a:ln w="12700">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8961120" y="5294376"/>
            <a:ext cx="932688" cy="292608"/>
          </a:xfrm>
          <a:prstGeom prst="rect">
            <a:avLst/>
          </a:prstGeom>
          <a:noFill/>
        </p:spPr>
        <p:txBody>
          <a:bodyPr wrap="square" lIns="0" tIns="0" rIns="0" bIns="0" anchor="ctr">
            <a:spAutoFit/>
          </a:bodyPr>
          <a:lstStyle/>
          <a:p>
            <a:pPr algn="ctr"/>
            <a:r>
              <a:rPr sz="1100" b="1">
                <a:solidFill>
                  <a:srgbClr val="1B2A49"/>
                </a:solidFill>
                <a:latin typeface="Calibri"/>
              </a:rPr>
              <a:t>CLAUDE.md</a:t>
            </a:r>
          </a:p>
        </p:txBody>
      </p:sp>
      <p:sp>
        <p:nvSpPr>
          <p:cNvPr id="57" name="Rounded Rectangle 56"/>
          <p:cNvSpPr/>
          <p:nvPr/>
        </p:nvSpPr>
        <p:spPr>
          <a:xfrm>
            <a:off x="9985248" y="5294376"/>
            <a:ext cx="1371600" cy="292608"/>
          </a:xfrm>
          <a:prstGeom prst="roundRect">
            <a:avLst>
              <a:gd name="adj" fmla="val 50000"/>
            </a:avLst>
          </a:prstGeom>
          <a:solidFill>
            <a:srgbClr val="FFFFFF"/>
          </a:solidFill>
          <a:ln w="12700">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p:cNvSpPr txBox="1"/>
          <p:nvPr/>
        </p:nvSpPr>
        <p:spPr>
          <a:xfrm>
            <a:off x="9985248" y="5294376"/>
            <a:ext cx="1371600" cy="292608"/>
          </a:xfrm>
          <a:prstGeom prst="rect">
            <a:avLst/>
          </a:prstGeom>
          <a:noFill/>
        </p:spPr>
        <p:txBody>
          <a:bodyPr wrap="square" lIns="0" tIns="0" rIns="0" bIns="0" anchor="ctr">
            <a:spAutoFit/>
          </a:bodyPr>
          <a:lstStyle/>
          <a:p>
            <a:pPr algn="ctr"/>
            <a:r>
              <a:rPr sz="1100" b="1">
                <a:solidFill>
                  <a:srgbClr val="1B2A49"/>
                </a:solidFill>
                <a:latin typeface="Calibri"/>
              </a:rPr>
              <a:t>Skills &amp; agents</a:t>
            </a:r>
          </a:p>
        </p:txBody>
      </p:sp>
      <p:sp>
        <p:nvSpPr>
          <p:cNvPr id="59" name="Rounded Rectangle 58"/>
          <p:cNvSpPr/>
          <p:nvPr/>
        </p:nvSpPr>
        <p:spPr>
          <a:xfrm>
            <a:off x="457200" y="5943600"/>
            <a:ext cx="11274552" cy="457200"/>
          </a:xfrm>
          <a:prstGeom prst="roundRect">
            <a:avLst>
              <a:gd name="adj" fmla="val 5000"/>
            </a:avLst>
          </a:prstGeom>
          <a:solidFill>
            <a:srgbClr val="1B2A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p:cNvSpPr txBox="1"/>
          <p:nvPr/>
        </p:nvSpPr>
        <p:spPr>
          <a:xfrm>
            <a:off x="685800" y="5943600"/>
            <a:ext cx="10789920" cy="457200"/>
          </a:xfrm>
          <a:prstGeom prst="rect">
            <a:avLst/>
          </a:prstGeom>
          <a:noFill/>
        </p:spPr>
        <p:txBody>
          <a:bodyPr wrap="square" lIns="0" tIns="0" rIns="0" bIns="0" anchor="ctr">
            <a:spAutoFit/>
          </a:bodyPr>
          <a:lstStyle/>
          <a:p>
            <a:pPr algn="l"/>
            <a:r>
              <a:rPr sz="1300" b="1">
                <a:solidFill>
                  <a:srgbClr val="FFFFFF"/>
                </a:solidFill>
                <a:latin typeface="Calibri"/>
              </a:rPr>
              <a:t>Setup   </a:t>
            </a:r>
            <a:r>
              <a:rPr sz="1300" b="0">
                <a:solidFill>
                  <a:srgbClr val="FFFFFF"/>
                </a:solidFill>
                <a:latin typeface="Calibri"/>
              </a:rPr>
              <a:t>dotnet tool restore  →  set the LLM secrets (user-secrets)  →  aspire run  →  start Batch from the dashboard</a:t>
            </a:r>
          </a:p>
        </p:txBody>
      </p:sp>
      <p:sp>
        <p:nvSpPr>
          <p:cNvPr id="61" name="TextBox 60"/>
          <p:cNvSpPr txBox="1"/>
          <p:nvPr/>
        </p:nvSpPr>
        <p:spPr>
          <a:xfrm>
            <a:off x="457200" y="6510528"/>
            <a:ext cx="8229600" cy="228600"/>
          </a:xfrm>
          <a:prstGeom prst="rect">
            <a:avLst/>
          </a:prstGeom>
          <a:noFill/>
        </p:spPr>
        <p:txBody>
          <a:bodyPr wrap="square" lIns="0" tIns="0" rIns="0" bIns="0" anchor="t">
            <a:spAutoFit/>
          </a:bodyPr>
          <a:lstStyle/>
          <a:p>
            <a:pPr algn="l"/>
            <a:r>
              <a:rPr sz="1000" b="0">
                <a:solidFill>
                  <a:srgbClr val="6B7280"/>
                </a:solidFill>
                <a:latin typeface="Calibri"/>
              </a:rPr>
              <a:t>TicketTriage  ·  Swiss {ai} Weeks  ·  Stack and workflow (README.md, CLAUDE.md)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1720</Words>
  <Application>Microsoft Office PowerPoint</Application>
  <PresentationFormat>Breitbild</PresentationFormat>
  <Paragraphs>167</Paragraphs>
  <Slides>5</Slides>
  <Notes>5</Notes>
  <HiddenSlides>0</HiddenSlides>
  <MMClips>0</MMClips>
  <ScaleCrop>false</ScaleCrop>
  <HeadingPairs>
    <vt:vector size="6" baseType="variant">
      <vt:variant>
        <vt:lpstr>Verwendete Schriftarten</vt:lpstr>
      </vt:variant>
      <vt:variant>
        <vt:i4>3</vt:i4>
      </vt:variant>
      <vt:variant>
        <vt:lpstr>Design</vt:lpstr>
      </vt:variant>
      <vt:variant>
        <vt:i4>1</vt:i4>
      </vt:variant>
      <vt:variant>
        <vt:lpstr>Folientitel</vt:lpstr>
      </vt:variant>
      <vt:variant>
        <vt:i4>5</vt:i4>
      </vt:variant>
    </vt:vector>
  </HeadingPairs>
  <TitlesOfParts>
    <vt:vector size="9" baseType="lpstr">
      <vt:lpstr>Arial</vt:lpstr>
      <vt:lpstr>Calibri</vt:lpstr>
      <vt:lpstr>Cambria</vt:lpstr>
      <vt:lpstr>Office Theme</vt:lpstr>
      <vt:lpstr>PowerPoint-Präsentation</vt:lpstr>
      <vt:lpstr>PowerPoint-Präsentation</vt:lpstr>
      <vt:lpstr>PowerPoint-Präsentation</vt:lpstr>
      <vt:lpstr>PowerPoint-Präsentation</vt:lpstr>
      <vt:lpstr>PowerPoint-Präsentation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Fabrice Wuersten</cp:lastModifiedBy>
  <cp:revision>2</cp:revision>
  <dcterms:created xsi:type="dcterms:W3CDTF">2013-01-27T09:14:16Z</dcterms:created>
  <dcterms:modified xsi:type="dcterms:W3CDTF">2026-09-25T12:59:46Z</dcterms:modified>
  <cp:category/>
</cp:coreProperties>
</file>